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12192000"/>
  <p:embeddedFontLst>
    <p:embeddedFont>
      <p:font typeface="Source Sans 3"/>
      <p:regular r:id="rId30"/>
      <p:bold r:id="rId31"/>
      <p:italic r:id="rId32"/>
      <p:boldItalic r:id="rId33"/>
    </p:embeddedFont>
    <p:embeddedFont>
      <p:font typeface="Noto Nastaliq Urdu"/>
      <p:regular r:id="rId34"/>
      <p:bold r:id="rId35"/>
    </p:embeddedFont>
    <p:embeddedFont>
      <p:font typeface="Source Serif 4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B05C8C-60D2-43F7-8985-0A8C68B41B7A}">
  <a:tblStyle styleId="{59B05C8C-60D2-43F7-8985-0A8C68B41B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Sans3-bold.fntdata"/><Relationship Id="rId30" Type="http://schemas.openxmlformats.org/officeDocument/2006/relationships/font" Target="fonts/SourceSans3-regular.fntdata"/><Relationship Id="rId11" Type="http://schemas.openxmlformats.org/officeDocument/2006/relationships/slide" Target="slides/slide6.xml"/><Relationship Id="rId33" Type="http://schemas.openxmlformats.org/officeDocument/2006/relationships/font" Target="fonts/SourceSans3-boldItalic.fntdata"/><Relationship Id="rId10" Type="http://schemas.openxmlformats.org/officeDocument/2006/relationships/slide" Target="slides/slide5.xml"/><Relationship Id="rId32" Type="http://schemas.openxmlformats.org/officeDocument/2006/relationships/font" Target="fonts/SourceSans3-italic.fntdata"/><Relationship Id="rId13" Type="http://schemas.openxmlformats.org/officeDocument/2006/relationships/slide" Target="slides/slide8.xml"/><Relationship Id="rId35" Type="http://schemas.openxmlformats.org/officeDocument/2006/relationships/font" Target="fonts/NotoNastaliqUrdu-bold.fntdata"/><Relationship Id="rId12" Type="http://schemas.openxmlformats.org/officeDocument/2006/relationships/slide" Target="slides/slide7.xml"/><Relationship Id="rId34" Type="http://schemas.openxmlformats.org/officeDocument/2006/relationships/font" Target="fonts/NotoNastaliqUrdu-regular.fntdata"/><Relationship Id="rId15" Type="http://schemas.openxmlformats.org/officeDocument/2006/relationships/slide" Target="slides/slide10.xml"/><Relationship Id="rId37" Type="http://schemas.openxmlformats.org/officeDocument/2006/relationships/font" Target="fonts/SourceSerif4-bold.fntdata"/><Relationship Id="rId14" Type="http://schemas.openxmlformats.org/officeDocument/2006/relationships/slide" Target="slides/slide9.xml"/><Relationship Id="rId36" Type="http://schemas.openxmlformats.org/officeDocument/2006/relationships/font" Target="fonts/SourceSerif4-regular.fntdata"/><Relationship Id="rId17" Type="http://schemas.openxmlformats.org/officeDocument/2006/relationships/slide" Target="slides/slide12.xml"/><Relationship Id="rId39" Type="http://schemas.openxmlformats.org/officeDocument/2006/relationships/font" Target="fonts/SourceSerif4-boldItalic.fntdata"/><Relationship Id="rId16" Type="http://schemas.openxmlformats.org/officeDocument/2006/relationships/slide" Target="slides/slide11.xml"/><Relationship Id="rId38" Type="http://schemas.openxmlformats.org/officeDocument/2006/relationships/font" Target="fonts/SourceSerif4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3" name="Google Shape;65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7" name="Google Shape;72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5F8F6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812800" y="1085850"/>
            <a:ext cx="10566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  <a:defRPr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body"/>
          </p:nvPr>
        </p:nvSpPr>
        <p:spPr>
          <a:xfrm>
            <a:off x="812800" y="1835150"/>
            <a:ext cx="10566400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E2A35"/>
              </a:buClr>
              <a:buSzPts val="1600"/>
              <a:buNone/>
              <a:defRPr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2800" y="1085850"/>
            <a:ext cx="10566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  <a:defRPr b="0" i="0" sz="3200" u="none" cap="none" strike="noStrike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2800" y="1835150"/>
            <a:ext cx="10566400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Relationship Id="rId7" Type="http://schemas.openxmlformats.org/officeDocument/2006/relationships/image" Target="../media/image3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BDD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" name="Google Shape;17;p4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1676400" y="736600"/>
            <a:ext cx="12700" cy="457200"/>
          </a:xfrm>
          <a:prstGeom prst="rect">
            <a:avLst/>
          </a:prstGeom>
          <a:solidFill>
            <a:srgbClr val="D5DED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2908300" y="860425"/>
            <a:ext cx="488537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528399" y="1507000"/>
            <a:ext cx="680212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Urdu Sign Language</a:t>
            </a:r>
            <a:endParaRPr sz="4800"/>
          </a:p>
        </p:txBody>
      </p:sp>
      <p:sp>
        <p:nvSpPr>
          <p:cNvPr id="21" name="Google Shape;21;p4"/>
          <p:cNvSpPr/>
          <p:nvPr/>
        </p:nvSpPr>
        <p:spPr>
          <a:xfrm>
            <a:off x="528399" y="2100903"/>
            <a:ext cx="680212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3200"/>
              <a:buFont typeface="Source Serif 4"/>
              <a:buNone/>
            </a:pPr>
            <a:r>
              <a:rPr b="1" lang="en-US" sz="3200">
                <a:solidFill>
                  <a:srgbClr val="155E6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Detection &amp; Classification</a:t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8399" y="2520969"/>
            <a:ext cx="680212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2400"/>
              <a:buFont typeface="Source Sans 3"/>
              <a:buNone/>
            </a:pPr>
            <a:r>
              <a:rPr b="1" i="1" lang="en-US" sz="24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Using a Custom Dataset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90909" y="761338"/>
            <a:ext cx="5065799" cy="539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3200"/>
              <a:buFont typeface="Noto Nastaliq Urdu"/>
              <a:buNone/>
            </a:pPr>
            <a:r>
              <a:rPr lang="en-US" sz="3200">
                <a:solidFill>
                  <a:srgbClr val="155E6B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اردو اشاروں کی زبان کی شناخت</a:t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90909" y="3547246"/>
            <a:ext cx="219638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90909" y="3912158"/>
            <a:ext cx="2738664" cy="39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888"/>
              </a:lnSpc>
              <a:spcBef>
                <a:spcPts val="0"/>
              </a:spcBef>
              <a:spcAft>
                <a:spcPts val="0"/>
              </a:spcAft>
              <a:buClr>
                <a:srgbClr val="141818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14181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Malaika Nasir (F2023-736)</a:t>
            </a:r>
            <a:endParaRPr sz="1800">
              <a:solidFill>
                <a:srgbClr val="14181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90909" y="4252370"/>
            <a:ext cx="30704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888"/>
              </a:lnSpc>
              <a:spcBef>
                <a:spcPts val="0"/>
              </a:spcBef>
              <a:spcAft>
                <a:spcPts val="0"/>
              </a:spcAft>
              <a:buClr>
                <a:srgbClr val="141818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141818"/>
                </a:solidFill>
                <a:latin typeface="Source Sans 3"/>
                <a:ea typeface="Source Sans 3"/>
                <a:cs typeface="Source Sans 3"/>
                <a:sym typeface="Source Sans 3"/>
              </a:rPr>
              <a:t>Abeeha Maryam (F2023-515)</a:t>
            </a:r>
            <a:endParaRPr sz="1800">
              <a:solidFill>
                <a:srgbClr val="14181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90909" y="4589002"/>
            <a:ext cx="2941290" cy="36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888"/>
              </a:lnSpc>
              <a:spcBef>
                <a:spcPts val="0"/>
              </a:spcBef>
              <a:spcAft>
                <a:spcPts val="0"/>
              </a:spcAft>
              <a:buClr>
                <a:srgbClr val="141818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141818"/>
                </a:solidFill>
                <a:latin typeface="Source Sans 3"/>
                <a:ea typeface="Source Sans 3"/>
                <a:cs typeface="Source Sans 3"/>
                <a:sym typeface="Source Sans 3"/>
              </a:rPr>
              <a:t>Zukhruf Javaid (F2023-273)</a:t>
            </a:r>
            <a:endParaRPr sz="1800">
              <a:solidFill>
                <a:srgbClr val="14181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61376" y="3551325"/>
            <a:ext cx="211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SUPERVISOR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61375" y="3902925"/>
            <a:ext cx="1550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888"/>
              </a:lnSpc>
              <a:spcBef>
                <a:spcPts val="0"/>
              </a:spcBef>
              <a:spcAft>
                <a:spcPts val="0"/>
              </a:spcAft>
              <a:buClr>
                <a:srgbClr val="141818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141818"/>
                </a:solidFill>
                <a:latin typeface="Source Sans 3"/>
                <a:ea typeface="Source Sans 3"/>
                <a:cs typeface="Source Sans 3"/>
                <a:sym typeface="Source Sans 3"/>
              </a:rPr>
              <a:t>Ms. Noreen   Khalid</a:t>
            </a:r>
            <a:endParaRPr sz="1800">
              <a:solidFill>
                <a:srgbClr val="14181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929459" y="5429250"/>
            <a:ext cx="201582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7269480" y="1101725"/>
            <a:ext cx="4097454" cy="4654550"/>
          </a:xfrm>
          <a:prstGeom prst="roundRect">
            <a:avLst>
              <a:gd fmla="val 44138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37" name="Google Shape;37;p5"/>
          <p:cNvPicPr preferRelativeResize="0"/>
          <p:nvPr/>
        </p:nvPicPr>
        <p:blipFill rotWithShape="1">
          <a:blip r:embed="rId3">
            <a:alphaModFix/>
          </a:blip>
          <a:srcRect b="0" l="-21" r="-21" t="0"/>
          <a:stretch/>
        </p:blipFill>
        <p:spPr>
          <a:xfrm>
            <a:off x="7566353" y="381000"/>
            <a:ext cx="3503707" cy="56816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812800" y="2003425"/>
            <a:ext cx="5886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812800" y="2880035"/>
            <a:ext cx="52832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6000"/>
              <a:buFont typeface="Source Serif 4"/>
              <a:buNone/>
            </a:pPr>
            <a:r>
              <a:rPr b="1" i="0" lang="en-US" sz="60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Problem</a:t>
            </a:r>
            <a:endParaRPr sz="6000"/>
          </a:p>
        </p:txBody>
      </p:sp>
      <p:sp>
        <p:nvSpPr>
          <p:cNvPr id="40" name="Google Shape;40;p5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 amt="35000"/>
          </a:blip>
          <a:srcRect b="-107" l="0" r="0" t="-107"/>
          <a:stretch/>
        </p:blipFill>
        <p:spPr>
          <a:xfrm>
            <a:off x="8440493" y="1458951"/>
            <a:ext cx="3184034" cy="458500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812800" y="1430298"/>
            <a:ext cx="5877933" cy="423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52499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200"/>
              <a:buFont typeface="Source Sans 3"/>
              <a:buNone/>
            </a:pPr>
            <a:r>
              <a:rPr b="1" lang="en-US" sz="3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01 · PROBLEM STATEMENT</a:t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70928" y="2041758"/>
            <a:ext cx="35409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925020" y="2218009"/>
            <a:ext cx="8309021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2400"/>
              <a:buFont typeface="Source Serif 4"/>
              <a:buNone/>
            </a:pPr>
            <a:r>
              <a:rPr lang="en-US" sz="24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Deaf &amp; Mute people face communication difficulties with anyone who does not understand USL. Existing research focuses mainly on alphabet recognition, leaving </a:t>
            </a:r>
            <a:r>
              <a:rPr lang="en-US" sz="24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sentence-level USL recognition under-explored</a:t>
            </a:r>
            <a:r>
              <a:rPr lang="en-US" sz="24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. There is a need for an accessible system that recognises common USL signs and sentences and turns them into understandable output.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280100" y="4630950"/>
            <a:ext cx="11454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”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1180579" y="933063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 signer nearby? The conversation stops.</a:t>
            </a:r>
            <a:endParaRPr sz="3200"/>
          </a:p>
        </p:txBody>
      </p:sp>
      <p:sp>
        <p:nvSpPr>
          <p:cNvPr id="58" name="Google Shape;58;p7"/>
          <p:cNvSpPr/>
          <p:nvPr/>
        </p:nvSpPr>
        <p:spPr>
          <a:xfrm>
            <a:off x="1046975" y="1971288"/>
            <a:ext cx="1460500" cy="825500"/>
          </a:xfrm>
          <a:prstGeom prst="roundRect">
            <a:avLst>
              <a:gd fmla="val 13846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ctr" bIns="0" lIns="55400" spcFirstLastPara="1" rIns="5540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USL user signs a message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2888475" y="1971288"/>
            <a:ext cx="1587500" cy="825500"/>
          </a:xfrm>
          <a:prstGeom prst="roundRect">
            <a:avLst>
              <a:gd fmla="val 13846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ctr" bIns="0" lIns="55400" spcFirstLastPara="1" rIns="5540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Hearing person tries to understand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diamond" id="60" name="Google Shape;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6975" y="1971288"/>
            <a:ext cx="1333500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4831575" y="2263388"/>
            <a:ext cx="13843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Understood?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571475" y="1971288"/>
            <a:ext cx="1333500" cy="825500"/>
          </a:xfrm>
          <a:prstGeom prst="roundRect">
            <a:avLst>
              <a:gd fmla="val 13846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ctr" bIns="0" lIns="55400" spcFirstLastPara="1" rIns="5540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Message delivered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602975" y="3431788"/>
            <a:ext cx="1841500" cy="825500"/>
          </a:xfrm>
          <a:prstGeom prst="roundRect">
            <a:avLst>
              <a:gd fmla="val 13846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ctr" bIns="0" lIns="55400" spcFirstLastPara="1" rIns="5540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Teacher, family member or interpreter nearby?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602975" y="4765288"/>
            <a:ext cx="1841500" cy="762000"/>
          </a:xfrm>
          <a:prstGeom prst="roundRect">
            <a:avLst>
              <a:gd fmla="val 15000" name="adj"/>
            </a:avLst>
          </a:prstGeom>
          <a:solidFill>
            <a:srgbClr val="B4502F"/>
          </a:solidFill>
          <a:ln>
            <a:noFill/>
          </a:ln>
        </p:spPr>
        <p:txBody>
          <a:bodyPr anchorCtr="0" anchor="ctr" bIns="0" lIns="55400" spcFirstLastPara="1" rIns="5540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Communication breaks down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onnector" id="65" name="Google Shape;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6675" y="2333238"/>
            <a:ext cx="4826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5175" y="2333238"/>
            <a:ext cx="4826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9675" y="2333238"/>
            <a:ext cx="48260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68" name="Google Shape;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2925" y="2745988"/>
            <a:ext cx="1016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69" name="Google Shape;6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72925" y="4206488"/>
            <a:ext cx="101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70" name="Google Shape;7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3675" y="2745988"/>
            <a:ext cx="895350" cy="11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6177775" y="2085588"/>
            <a:ext cx="406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Yes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5606275" y="2987288"/>
            <a:ext cx="431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No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5606275" y="4384288"/>
            <a:ext cx="431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No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333475" y="3203188"/>
            <a:ext cx="431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Yes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3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1769594" y="256216"/>
            <a:ext cx="8330072" cy="555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7777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600"/>
              <a:buFont typeface="Source Serif 4"/>
              <a:buNone/>
            </a:pPr>
            <a:r>
              <a:rPr b="1" i="0" lang="en-US" sz="36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 Research Papers what it lacks</a:t>
            </a:r>
            <a:endParaRPr sz="3600"/>
          </a:p>
        </p:txBody>
      </p:sp>
      <p:sp>
        <p:nvSpPr>
          <p:cNvPr id="82" name="Google Shape;82;p8"/>
          <p:cNvSpPr/>
          <p:nvPr/>
        </p:nvSpPr>
        <p:spPr>
          <a:xfrm>
            <a:off x="812800" y="1619250"/>
            <a:ext cx="10883392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6C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4A626C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83" name="Google Shape;83;p8"/>
          <p:cNvCxnSpPr/>
          <p:nvPr/>
        </p:nvCxnSpPr>
        <p:spPr>
          <a:xfrm>
            <a:off x="11046333" y="1506189"/>
            <a:ext cx="0" cy="4245982"/>
          </a:xfrm>
          <a:prstGeom prst="straightConnector1">
            <a:avLst/>
          </a:prstGeom>
          <a:noFill/>
          <a:ln cap="flat" cmpd="sng" w="9525">
            <a:solidFill>
              <a:srgbClr val="D5E2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8"/>
          <p:cNvCxnSpPr/>
          <p:nvPr/>
        </p:nvCxnSpPr>
        <p:spPr>
          <a:xfrm>
            <a:off x="483107" y="5180458"/>
            <a:ext cx="10903049" cy="0"/>
          </a:xfrm>
          <a:prstGeom prst="straightConnector1">
            <a:avLst/>
          </a:prstGeom>
          <a:noFill/>
          <a:ln cap="flat" cmpd="sng" w="9525">
            <a:solidFill>
              <a:srgbClr val="D5E2DF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5" name="Google Shape;85;p8"/>
          <p:cNvGraphicFramePr/>
          <p:nvPr/>
        </p:nvGraphicFramePr>
        <p:xfrm>
          <a:off x="360481" y="8755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{59B05C8C-60D2-43F7-8985-0A8C68B41B7A}</a:tableStyleId>
              </a:tblPr>
              <a:tblGrid>
                <a:gridCol w="1085250"/>
                <a:gridCol w="1000900"/>
                <a:gridCol w="2075925"/>
                <a:gridCol w="1677625"/>
                <a:gridCol w="1793700"/>
                <a:gridCol w="1793700"/>
                <a:gridCol w="1013500"/>
                <a:gridCol w="707700"/>
              </a:tblGrid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Study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Sign language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      Model / technique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Input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Recognises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Accuracy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Sentences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AF8"/>
                        </a:buClr>
                        <a:buSzPts val="1400"/>
                        <a:buFont typeface="Source Sans 3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7FAF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Face cues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2A35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Saeed 2024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ResNet50, VGG16, InceptionV3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UWB radar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isolated signs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92% (ResNet50)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F252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Paul 2024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CNN + LSTM / GRU, MediaPipe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Camera + MediaPipe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26 letters, 3 dynamic signs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94.3% (LSTM)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Patel 2023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R-CNN, MobileNet, YOLOv8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Camera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Individual letters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95% (YOLOv8)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Rahman 2023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SVM, MLP, ANN, KNN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Sensor glove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 gestures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Over 96%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Saleem 2023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ASL · PSL · SSL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CNN + supervised ML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Leap Motion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Letters and numbers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93.1% (PSL)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Shin 2023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KSL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Hybrid CNN + Transformer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Camera (video)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Isolated words (77)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89–98.3%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Azimi 2023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Gesture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MediaPipe + MobileNet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Camera + MediaPipe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 help signal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≈ 91.25%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Miah 2022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BdSL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BenSignNet CNN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Camera (images)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Alphabet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94–99.6%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2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Zakariah 2022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ArSL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EfficientNetB4 (transfer)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Camera (images)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5661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3E566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Alphabet (32)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95% (test)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3F22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9C3F22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No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EC3C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Our proposal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USL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EfficientNetV2-S </a:t>
                      </a: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· LSTM · MediaPipe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Ordinary camera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37 letters + 24 sentences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7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2A35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0E2A35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To be measured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2350" marB="52350" marR="52350" marL="52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5E6B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155E6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Yes · 24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5E6B"/>
                        </a:buClr>
                        <a:buSzPts val="1400"/>
                        <a:buFont typeface="Source Sans 3"/>
                        <a:buNone/>
                      </a:pPr>
                      <a:r>
                        <a:rPr lang="en-US" sz="1400" u="none" cap="none" strike="noStrike">
                          <a:solidFill>
                            <a:srgbClr val="155E6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Yes · 5</a:t>
                      </a:r>
                      <a:endParaRPr sz="14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1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2E3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8"/>
          <p:cNvSpPr/>
          <p:nvPr/>
        </p:nvSpPr>
        <p:spPr>
          <a:xfrm>
            <a:off x="825500" y="5972268"/>
            <a:ext cx="91567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0695978" y="6495917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6264876" y="1587500"/>
            <a:ext cx="5870542" cy="3683000"/>
          </a:xfrm>
          <a:prstGeom prst="roundRect">
            <a:avLst>
              <a:gd fmla="val 44138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94" name="Google Shape;94;p9"/>
          <p:cNvPicPr preferRelativeResize="0"/>
          <p:nvPr/>
        </p:nvPicPr>
        <p:blipFill rotWithShape="1">
          <a:blip r:embed="rId3">
            <a:alphaModFix/>
          </a:blip>
          <a:srcRect b="-30" l="0" r="0" t="-30"/>
          <a:stretch/>
        </p:blipFill>
        <p:spPr>
          <a:xfrm>
            <a:off x="6150078" y="1587500"/>
            <a:ext cx="5985340" cy="314942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/>
        </p:nvSpPr>
        <p:spPr>
          <a:xfrm>
            <a:off x="742156" y="1773238"/>
            <a:ext cx="5886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6000"/>
              <a:buFont typeface="Source Serif 4"/>
              <a:buNone/>
            </a:pPr>
            <a:r>
              <a:rPr b="1" lang="en-US" sz="6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sz="6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545941" y="2408238"/>
            <a:ext cx="627888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Target Market &amp; Users</a:t>
            </a:r>
            <a:endParaRPr sz="4800"/>
          </a:p>
        </p:txBody>
      </p:sp>
      <p:sp>
        <p:nvSpPr>
          <p:cNvPr id="97" name="Google Shape;97;p9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6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812800" y="977900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From industry to end user</a:t>
            </a:r>
            <a:endParaRPr sz="3200"/>
          </a:p>
        </p:txBody>
      </p:sp>
      <p:sp>
        <p:nvSpPr>
          <p:cNvPr id="104" name="Google Shape;104;p10"/>
          <p:cNvSpPr/>
          <p:nvPr/>
        </p:nvSpPr>
        <p:spPr>
          <a:xfrm>
            <a:off x="308868" y="1765300"/>
            <a:ext cx="5461000" cy="647700"/>
          </a:xfrm>
          <a:prstGeom prst="roundRect">
            <a:avLst>
              <a:gd fmla="val 19608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410087" y="1866900"/>
            <a:ext cx="525856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INDUSTRY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410087" y="2089150"/>
            <a:ext cx="525856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AI, computer vision &amp; assistive technology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562868" y="2514600"/>
            <a:ext cx="4953000" cy="647700"/>
          </a:xfrm>
          <a:prstGeom prst="roundRect">
            <a:avLst>
              <a:gd fmla="val 19608" name="adj"/>
            </a:avLst>
          </a:prstGeom>
          <a:solidFill>
            <a:srgbClr val="134A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671707" y="2616200"/>
            <a:ext cx="473532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MARKET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71707" y="2838450"/>
            <a:ext cx="47353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Assistive technology &amp; accessibility in Pakistan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816868" y="3263900"/>
            <a:ext cx="4445000" cy="869950"/>
          </a:xfrm>
          <a:prstGeom prst="roundRect">
            <a:avLst>
              <a:gd fmla="val 14599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933327" y="3365500"/>
            <a:ext cx="421208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933327" y="3587750"/>
            <a:ext cx="421208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People who use USL and those who communicate with them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1070868" y="4235450"/>
            <a:ext cx="3937000" cy="647700"/>
          </a:xfrm>
          <a:prstGeom prst="roundRect">
            <a:avLst>
              <a:gd fmla="val 19608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1194947" y="4337050"/>
            <a:ext cx="368884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END USER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1194947" y="4559300"/>
            <a:ext cx="368884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Deaf USL users in Pakistan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88573" y="5035550"/>
            <a:ext cx="510159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320526" y="1106500"/>
            <a:ext cx="61671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2000"/>
              <a:buFont typeface="Source Sans 3"/>
              <a:buNone/>
            </a:pPr>
            <a:r>
              <a:rPr b="1" lang="en-US" sz="20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SECONDARY USERS: WHERE THEY MEET USL USERS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6320532" y="1765300"/>
            <a:ext cx="2349500" cy="1143000"/>
          </a:xfrm>
          <a:prstGeom prst="roundRect">
            <a:avLst>
              <a:gd fmla="val 11111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6498332" y="1917700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GraduationCap" id="120" name="Google Shape;1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0882" y="2000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6955532" y="1990725"/>
            <a:ext cx="94571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Education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6498332" y="2336800"/>
            <a:ext cx="2053717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Teachers, students, interpreters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8771632" y="1765300"/>
            <a:ext cx="2349500" cy="1143000"/>
          </a:xfrm>
          <a:prstGeom prst="roundRect">
            <a:avLst>
              <a:gd fmla="val 11111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8949432" y="1917700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Activity" id="125" name="Google Shape;1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31982" y="20002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0"/>
          <p:cNvSpPr/>
          <p:nvPr/>
        </p:nvSpPr>
        <p:spPr>
          <a:xfrm>
            <a:off x="9406632" y="1990725"/>
            <a:ext cx="103239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Healthcare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8949432" y="2336800"/>
            <a:ext cx="205371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Doctors, nurses, front desks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6320532" y="3009900"/>
            <a:ext cx="2349500" cy="933450"/>
          </a:xfrm>
          <a:prstGeom prst="roundRect">
            <a:avLst>
              <a:gd fmla="val 1360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498332" y="3162300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Verified" id="130" name="Google Shape;13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882" y="32448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6955532" y="3235325"/>
            <a:ext cx="139386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Public services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6498332" y="3581400"/>
            <a:ext cx="21717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NADRA and government offices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8771632" y="3009900"/>
            <a:ext cx="2349500" cy="933450"/>
          </a:xfrm>
          <a:prstGeom prst="roundRect">
            <a:avLst>
              <a:gd fmla="val 1360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8949432" y="3162300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hat" id="135" name="Google Shape;13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31982" y="32448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/>
          <p:nvPr/>
        </p:nvSpPr>
        <p:spPr>
          <a:xfrm>
            <a:off x="9406632" y="3235325"/>
            <a:ext cx="1616869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Customer service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8949432" y="3581400"/>
            <a:ext cx="21717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Banks, shops, service counters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6320532" y="4044950"/>
            <a:ext cx="2349500" cy="933450"/>
          </a:xfrm>
          <a:prstGeom prst="roundRect">
            <a:avLst>
              <a:gd fmla="val 1360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6498332" y="4197350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Users" id="140" name="Google Shape;14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0882" y="4279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/>
          <p:nvPr/>
        </p:nvSpPr>
        <p:spPr>
          <a:xfrm>
            <a:off x="6955532" y="4270375"/>
            <a:ext cx="1088469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Workplaces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498332" y="4616450"/>
            <a:ext cx="205371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Employers and colleagues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8771632" y="4044950"/>
            <a:ext cx="2349500" cy="933450"/>
          </a:xfrm>
          <a:prstGeom prst="roundRect">
            <a:avLst>
              <a:gd fmla="val 1360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8949432" y="4197350"/>
            <a:ext cx="355600" cy="3556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Home" id="145" name="Google Shape;14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31982" y="4279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/>
          <p:nvPr/>
        </p:nvSpPr>
        <p:spPr>
          <a:xfrm>
            <a:off x="9406632" y="4270375"/>
            <a:ext cx="78307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Families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8949432" y="4616450"/>
            <a:ext cx="205371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Parents, friends, caregivers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7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488575" y="5413900"/>
            <a:ext cx="6501000" cy="1143000"/>
          </a:xfrm>
          <a:prstGeom prst="roundRect">
            <a:avLst>
              <a:gd fmla="val 19608" name="adj"/>
            </a:avLst>
          </a:prstGeom>
          <a:solidFill>
            <a:srgbClr val="CBCBC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Primary Users</a:t>
            </a:r>
            <a:endParaRPr b="1" sz="1800">
              <a:solidFill>
                <a:srgbClr val="8E621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  <a:latin typeface="Source Sans 3"/>
                <a:ea typeface="Source Sans 3"/>
                <a:cs typeface="Source Sans 3"/>
                <a:sym typeface="Source Sans 3"/>
              </a:rPr>
              <a:t>Deaf and Mute people</a:t>
            </a:r>
            <a:endParaRPr b="1" sz="1800">
              <a:solidFill>
                <a:schemeClr val="accent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746378" y="839789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Two personas from our DWAF analysis</a:t>
            </a:r>
            <a:endParaRPr sz="3200"/>
          </a:p>
        </p:txBody>
      </p:sp>
      <p:sp>
        <p:nvSpPr>
          <p:cNvPr id="156" name="Google Shape;156;p11"/>
          <p:cNvSpPr/>
          <p:nvPr/>
        </p:nvSpPr>
        <p:spPr>
          <a:xfrm>
            <a:off x="166312" y="1546224"/>
            <a:ext cx="5837613" cy="4270375"/>
          </a:xfrm>
          <a:prstGeom prst="roundRect">
            <a:avLst>
              <a:gd fmla="val 4009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3671893" y="1881103"/>
            <a:ext cx="2757942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PRIMARY PERSONA</a:t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3739286" y="2151063"/>
            <a:ext cx="370192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2400"/>
              <a:buFont typeface="Source Serif 4"/>
              <a:buNone/>
            </a:pPr>
            <a:r>
              <a:rPr b="1" lang="en-US" sz="24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Ali, 19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2228850" y="2505075"/>
            <a:ext cx="3701923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492250" y="3165475"/>
            <a:ext cx="112085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1146556" y="3448050"/>
            <a:ext cx="466813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8994" lvl="0" marL="155194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492250" y="4346575"/>
            <a:ext cx="901779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1146556" y="4629150"/>
            <a:ext cx="466813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996950" y="5403850"/>
            <a:ext cx="497078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6188075" y="1498600"/>
            <a:ext cx="5837700" cy="4270500"/>
          </a:xfrm>
          <a:prstGeom prst="roundRect">
            <a:avLst>
              <a:gd fmla="val 4009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9526245" y="1907403"/>
            <a:ext cx="2879939" cy="242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SECONDARY PERSONA</a:t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9652421" y="2170928"/>
            <a:ext cx="3701923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2400"/>
              <a:buFont typeface="Source Serif 4"/>
              <a:buNone/>
            </a:pPr>
            <a:r>
              <a:rPr b="1" lang="en-US" sz="24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Farhat Javed, 36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7600950" y="2505075"/>
            <a:ext cx="3701923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702881" y="2603498"/>
            <a:ext cx="2107685" cy="3079751"/>
          </a:xfrm>
          <a:prstGeom prst="roundRect">
            <a:avLst>
              <a:gd fmla="val 1034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864350" y="3165475"/>
            <a:ext cx="112085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518656" y="3448050"/>
            <a:ext cx="466813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78994" lvl="0" marL="155194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9526245" y="2589704"/>
            <a:ext cx="2265876" cy="2039446"/>
          </a:xfrm>
          <a:prstGeom prst="roundRect">
            <a:avLst>
              <a:gd fmla="val 10345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864350" y="4346575"/>
            <a:ext cx="901779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518656" y="4629150"/>
            <a:ext cx="466813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369050" y="5403850"/>
            <a:ext cx="497078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8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9526250" y="2609200"/>
            <a:ext cx="2380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Farhat teaches deaf students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.Whenever a third person comes and they want to 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communicate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with the students she is disturbed everytime from her work to act as an 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interpreter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.She needs a system to atleast translate basic sentences,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3806905" y="2609203"/>
            <a:ext cx="20829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Ali</a:t>
            </a: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wants to communicate with hearing people without depending on an interpreter or family member. Most people around h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im </a:t>
            </a: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don't understand USL, and spelling long messages letter by letter is slow. </a:t>
            </a:r>
            <a:r>
              <a:rPr lang="en-US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H</a:t>
            </a: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 needs a system that recognises both alphabets and everyday sentences.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/home/claude/assets/signing_woman.png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8212" y="1998088"/>
            <a:ext cx="2879925" cy="3366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425" y="1794100"/>
            <a:ext cx="2681699" cy="40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7366000" y="1587500"/>
            <a:ext cx="3683000" cy="3683000"/>
          </a:xfrm>
          <a:prstGeom prst="roundRect">
            <a:avLst>
              <a:gd fmla="val 44138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187" name="Google Shape;187;p12"/>
          <p:cNvPicPr preferRelativeResize="0"/>
          <p:nvPr/>
        </p:nvPicPr>
        <p:blipFill rotWithShape="1">
          <a:blip r:embed="rId3">
            <a:alphaModFix/>
          </a:blip>
          <a:srcRect b="0" l="-133" r="-133" t="0"/>
          <a:stretch/>
        </p:blipFill>
        <p:spPr>
          <a:xfrm>
            <a:off x="7366000" y="487362"/>
            <a:ext cx="3683000" cy="575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>
            <a:off x="812800" y="2013701"/>
            <a:ext cx="5886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6000"/>
              <a:buFont typeface="Source Serif 4"/>
              <a:buNone/>
            </a:pPr>
            <a:r>
              <a:rPr b="1" lang="en-US" sz="6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sz="6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9" name="Google Shape;189;p12"/>
          <p:cNvSpPr txBox="1"/>
          <p:nvPr>
            <p:ph type="title"/>
          </p:nvPr>
        </p:nvSpPr>
        <p:spPr>
          <a:xfrm>
            <a:off x="812800" y="2717006"/>
            <a:ext cx="627888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Requirement Elicitation</a:t>
            </a:r>
            <a:endParaRPr sz="4800"/>
          </a:p>
        </p:txBody>
      </p:sp>
      <p:sp>
        <p:nvSpPr>
          <p:cNvPr id="190" name="Google Shape;190;p12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9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721076" y="1380997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How we gathered requirements</a:t>
            </a:r>
            <a:endParaRPr sz="3200"/>
          </a:p>
        </p:txBody>
      </p:sp>
      <p:sp>
        <p:nvSpPr>
          <p:cNvPr id="197" name="Google Shape;197;p13"/>
          <p:cNvSpPr/>
          <p:nvPr/>
        </p:nvSpPr>
        <p:spPr>
          <a:xfrm>
            <a:off x="336725" y="2439951"/>
            <a:ext cx="2189400" cy="1785000"/>
          </a:xfrm>
          <a:prstGeom prst="roundRect">
            <a:avLst>
              <a:gd fmla="val 12245" name="adj"/>
            </a:avLst>
          </a:prstGeom>
          <a:solidFill>
            <a:srgbClr val="23798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717721" y="2622550"/>
            <a:ext cx="157986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1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717721" y="2908300"/>
            <a:ext cx="15798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Literature review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717725" y="3566800"/>
            <a:ext cx="1579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2400"/>
              <a:buFont typeface="Source Sans 3"/>
              <a:buNone/>
            </a:pP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9 papers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onnector"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1731" y="2919026"/>
            <a:ext cx="469898" cy="2349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/>
          <p:nvPr/>
        </p:nvSpPr>
        <p:spPr>
          <a:xfrm>
            <a:off x="2913525" y="2439951"/>
            <a:ext cx="2195700" cy="1712700"/>
          </a:xfrm>
          <a:prstGeom prst="roundRect">
            <a:avLst>
              <a:gd fmla="val 12245" name="adj"/>
            </a:avLst>
          </a:prstGeom>
          <a:solidFill>
            <a:srgbClr val="1D6C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3102161" y="2643773"/>
            <a:ext cx="1918037" cy="275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2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3102161" y="2928036"/>
            <a:ext cx="1918037" cy="275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Online meeting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3052294" y="3499710"/>
            <a:ext cx="1918037" cy="275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2400"/>
              <a:buFont typeface="Source Sans 3"/>
              <a:buNone/>
            </a:pP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DWAF principal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5515500" y="2439951"/>
            <a:ext cx="1910100" cy="1712700"/>
          </a:xfrm>
          <a:prstGeom prst="roundRect">
            <a:avLst>
              <a:gd fmla="val 12245" name="adj"/>
            </a:avLst>
          </a:prstGeom>
          <a:solidFill>
            <a:srgbClr val="185F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5756799" y="2622550"/>
            <a:ext cx="157986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3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5756799" y="2962275"/>
            <a:ext cx="157986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On-site visit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5756800" y="3559327"/>
            <a:ext cx="1579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2400"/>
              <a:buFont typeface="Source Sans 3"/>
              <a:buNone/>
            </a:pP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DWAF campus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7775500" y="2439951"/>
            <a:ext cx="1934700" cy="1712700"/>
          </a:xfrm>
          <a:prstGeom prst="roundRect">
            <a:avLst>
              <a:gd fmla="val 12245" name="adj"/>
            </a:avLst>
          </a:prstGeom>
          <a:solidFill>
            <a:srgbClr val="134A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7915195" y="2623942"/>
            <a:ext cx="1600302" cy="28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4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7915195" y="2931399"/>
            <a:ext cx="1600302" cy="28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Student feedback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7853525" y="3559300"/>
            <a:ext cx="2189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2400"/>
              <a:buFont typeface="Source Sans 3"/>
              <a:buNone/>
            </a:pP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D</a:t>
            </a: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eaf students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9999025" y="2439951"/>
            <a:ext cx="1925400" cy="1785000"/>
          </a:xfrm>
          <a:prstGeom prst="roundRect">
            <a:avLst>
              <a:gd fmla="val 12245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10138735" y="2646549"/>
            <a:ext cx="1592556" cy="239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5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10138735" y="2954005"/>
            <a:ext cx="1592556" cy="239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2400"/>
              <a:buFont typeface="Source Sans 3"/>
              <a:buNone/>
            </a:pPr>
            <a:r>
              <a:rPr b="1" lang="en-US" sz="24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Analysis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0138725" y="3508404"/>
            <a:ext cx="1809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2400"/>
              <a:buFont typeface="Source Sans 3"/>
              <a:buNone/>
            </a:pP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R</a:t>
            </a:r>
            <a:r>
              <a:rPr lang="en-US" sz="2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equirements</a:t>
            </a:r>
            <a:endParaRPr sz="2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10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onnector" id="219" name="Google Shape;2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890" y="2974975"/>
            <a:ext cx="536408" cy="268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20" name="Google Shape;2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8120" y="2989950"/>
            <a:ext cx="469898" cy="2349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nector" id="221" name="Google Shape;2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5020" y="3017069"/>
            <a:ext cx="469898" cy="23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type="title"/>
          </p:nvPr>
        </p:nvSpPr>
        <p:spPr>
          <a:xfrm>
            <a:off x="2005614" y="372249"/>
            <a:ext cx="7506629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Online Meeting with DWAF’s principal</a:t>
            </a:r>
            <a:endParaRPr sz="3200"/>
          </a:p>
        </p:txBody>
      </p:sp>
      <p:sp>
        <p:nvSpPr>
          <p:cNvPr id="228" name="Google Shape;228;p14"/>
          <p:cNvSpPr/>
          <p:nvPr/>
        </p:nvSpPr>
        <p:spPr>
          <a:xfrm>
            <a:off x="990600" y="5359400"/>
            <a:ext cx="316560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Stage 1 · Online meeting with DWAF’s principal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7442199" y="1607711"/>
            <a:ext cx="2841594" cy="1082598"/>
          </a:xfrm>
          <a:prstGeom prst="roundRect">
            <a:avLst>
              <a:gd fmla="val 8054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7583932" y="1718759"/>
            <a:ext cx="298246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3200"/>
              <a:buFont typeface="Source Serif 4"/>
              <a:buNone/>
            </a:pPr>
            <a:r>
              <a:rPr b="1" lang="en-US" sz="3200">
                <a:solidFill>
                  <a:srgbClr val="155E6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82</a:t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7583932" y="2207709"/>
            <a:ext cx="2982468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deaf students at DWAF, all aged 18+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9172280" y="1995603"/>
            <a:ext cx="298246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3"/>
              <a:buNone/>
            </a:pPr>
            <a:r>
              <a:t/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9172280" y="2484553"/>
            <a:ext cx="298246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None/>
            </a:pPr>
            <a:r>
              <a:t/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7442199" y="2912791"/>
            <a:ext cx="2982468" cy="1370516"/>
          </a:xfrm>
          <a:prstGeom prst="roundRect">
            <a:avLst>
              <a:gd fmla="val 8054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7583932" y="3115991"/>
            <a:ext cx="298246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3200"/>
              <a:buFont typeface="Source Serif 4"/>
              <a:buNone/>
            </a:pPr>
            <a:r>
              <a:rPr b="1" lang="en-US" sz="3200">
                <a:solidFill>
                  <a:srgbClr val="9C3F2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Daily</a:t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7583932" y="3604941"/>
            <a:ext cx="298246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teachers are pulled away to interpret, many times a day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7442199" y="4551324"/>
            <a:ext cx="3124201" cy="1225550"/>
          </a:xfrm>
          <a:prstGeom prst="roundRect">
            <a:avLst>
              <a:gd fmla="val 8054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7583932" y="4609557"/>
            <a:ext cx="298246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3200"/>
              <a:buFont typeface="Source Serif 4"/>
              <a:buNone/>
            </a:pPr>
            <a:r>
              <a:rPr b="1" lang="en-US" sz="3200">
                <a:solidFill>
                  <a:srgbClr val="155E6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</a:t>
            </a:r>
            <a:endParaRPr sz="3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7583932" y="5098507"/>
            <a:ext cx="298246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tools at DWAF that recognise signing: the PSL app in use is a dictionary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4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 b="6788" l="25356" r="17930" t="4875"/>
          <a:stretch/>
        </p:blipFill>
        <p:spPr>
          <a:xfrm>
            <a:off x="733301" y="959447"/>
            <a:ext cx="6169303" cy="5393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915275" y="643698"/>
            <a:ext cx="108834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Stage 2: On-site visit and student interaction</a:t>
            </a:r>
            <a:endParaRPr sz="3200"/>
          </a:p>
        </p:txBody>
      </p:sp>
      <p:sp>
        <p:nvSpPr>
          <p:cNvPr id="248" name="Google Shape;248;p15"/>
          <p:cNvSpPr/>
          <p:nvPr/>
        </p:nvSpPr>
        <p:spPr>
          <a:xfrm>
            <a:off x="977900" y="4127500"/>
            <a:ext cx="501002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6350000" y="4127500"/>
            <a:ext cx="501002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11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51" name="Google Shape;251;p15"/>
          <p:cNvPicPr preferRelativeResize="0"/>
          <p:nvPr/>
        </p:nvPicPr>
        <p:blipFill rotWithShape="1">
          <a:blip r:embed="rId3">
            <a:alphaModFix/>
          </a:blip>
          <a:srcRect b="0" l="3698" r="0" t="0"/>
          <a:stretch/>
        </p:blipFill>
        <p:spPr>
          <a:xfrm>
            <a:off x="0" y="1461875"/>
            <a:ext cx="5357399" cy="501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5"/>
          <p:cNvPicPr preferRelativeResize="0"/>
          <p:nvPr/>
        </p:nvPicPr>
        <p:blipFill rotWithShape="1">
          <a:blip r:embed="rId4">
            <a:alphaModFix/>
          </a:blip>
          <a:srcRect b="0" l="22158" r="3834" t="23442"/>
          <a:stretch/>
        </p:blipFill>
        <p:spPr>
          <a:xfrm>
            <a:off x="5537600" y="1339703"/>
            <a:ext cx="6634826" cy="517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type="title"/>
          </p:nvPr>
        </p:nvSpPr>
        <p:spPr>
          <a:xfrm>
            <a:off x="812800" y="927100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 everyday sentences, chosen with the students</a:t>
            </a:r>
            <a:endParaRPr sz="3200"/>
          </a:p>
        </p:txBody>
      </p:sp>
      <p:sp>
        <p:nvSpPr>
          <p:cNvPr id="259" name="Google Shape;259;p16"/>
          <p:cNvSpPr/>
          <p:nvPr/>
        </p:nvSpPr>
        <p:spPr>
          <a:xfrm>
            <a:off x="819150" y="1692275"/>
            <a:ext cx="165100" cy="165100"/>
          </a:xfrm>
          <a:prstGeom prst="roundRect">
            <a:avLst>
              <a:gd fmla="val 26923" name="adj"/>
            </a:avLst>
          </a:prstGeom>
          <a:solidFill>
            <a:srgbClr val="E7F0EE"/>
          </a:solidFill>
          <a:ln cap="flat" cmpd="sng" w="12700">
            <a:solidFill>
              <a:srgbClr val="155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1066800" y="1670050"/>
            <a:ext cx="1811139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Greetings &amp; courtesy · 10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884289" y="1692275"/>
            <a:ext cx="165100" cy="165100"/>
          </a:xfrm>
          <a:prstGeom prst="roundRect">
            <a:avLst>
              <a:gd fmla="val 26923" name="adj"/>
            </a:avLst>
          </a:prstGeom>
          <a:solidFill>
            <a:srgbClr val="FAF2E3"/>
          </a:solidFill>
          <a:ln cap="flat" cmpd="sng" w="12700">
            <a:solidFill>
              <a:srgbClr val="8E62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3131939" y="1670050"/>
            <a:ext cx="208250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Questions &amp; introductions · 5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5220791" y="1692275"/>
            <a:ext cx="165100" cy="165100"/>
          </a:xfrm>
          <a:prstGeom prst="roundRect">
            <a:avLst>
              <a:gd fmla="val 26923" name="adj"/>
            </a:avLst>
          </a:prstGeom>
          <a:solidFill>
            <a:srgbClr val="F7E5DF"/>
          </a:solidFill>
          <a:ln cap="flat" cmpd="sng" w="12700">
            <a:solidFill>
              <a:srgbClr val="9C3F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5468441" y="1670050"/>
            <a:ext cx="146542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Needs &amp; feelings · 9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812800" y="20193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939800" y="2095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Assalam-o-Alaikum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939800" y="2286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Peace be upon you (hello)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3473450" y="20193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600450" y="2095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Wa Alaikum Assalam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3600450" y="2286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And upon you (reply)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6134100" y="20193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6261100" y="2095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Allah Hafiz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6261100" y="2286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Goodbye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8794750" y="20193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8921750" y="2095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Khushamdeed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8921750" y="2286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Welcome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812800" y="26162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939800" y="26924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Shukriya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939800" y="28829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Thank you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3473450" y="26162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3600450" y="26924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JazakAllah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3600450" y="28829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May God reward you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6134100" y="26162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6261100" y="26924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Alhamdulillah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6261100" y="28829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Praise be to God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8794750" y="26162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8921750" y="26924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Baad mein milte hain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8921750" y="28829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See you later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812800" y="32131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939800" y="32893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Aapse mil kar khushi hui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939800" y="34798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Nice to meet you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3473450" y="32131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3600450" y="32893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Bohat achay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3600450" y="34798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Very good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6134100" y="32131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261100" y="32893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Aap kaise ho?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6261100" y="34798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 are you?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8794750" y="32131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8921750" y="32893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Aapka naam kya hai?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921750" y="34798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is your name?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812800" y="38100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939800" y="38862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Aap kahan rehte ho?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939800" y="40767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Where do you live?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3473450" y="38100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3600450" y="38862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Mera naam…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3600450" y="40767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My name is…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134100" y="38100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6261100" y="38862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theek hoon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261100" y="40767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I am fine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8794750" y="38100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8921750" y="38862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Madad karo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921750" y="40767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Help me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812800" y="44069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939800" y="44831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bemaar hoon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939800" y="46736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I am sick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3473450" y="44069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3600450" y="44831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bol nahi sakti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3600450" y="46736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I cannot speak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134100" y="44069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261100" y="44831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sun nahi sakti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6261100" y="46736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I cannot hear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8794750" y="44069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8921750" y="44831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Ghabrana nahi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8921750" y="46736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Don’t worry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812800" y="50038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939800" y="5080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Ye bohat zaroori hai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939800" y="5270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is very important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3473450" y="50038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3600450" y="5080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Mujhe maaf kar do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600450" y="5270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Please forgive me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6134100" y="50038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6261100" y="5080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aapse mohabbat karti hoon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261100" y="5270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I love you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8794750" y="5003800"/>
            <a:ext cx="2584450" cy="520700"/>
          </a:xfrm>
          <a:prstGeom prst="roundRect">
            <a:avLst>
              <a:gd fmla="val 19512" name="adj"/>
            </a:avLst>
          </a:prstGeom>
          <a:solidFill>
            <a:srgbClr val="F7E5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8921750" y="50800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aapse nafrat karti hoon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8921750" y="5270500"/>
            <a:ext cx="240036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I hate you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12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"/>
          <p:cNvSpPr/>
          <p:nvPr/>
        </p:nvSpPr>
        <p:spPr>
          <a:xfrm>
            <a:off x="7366000" y="1587500"/>
            <a:ext cx="3683000" cy="3683000"/>
          </a:xfrm>
          <a:prstGeom prst="roundRect">
            <a:avLst>
              <a:gd fmla="val 44138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Hand landmarks: MediaPipe tracks 21 points per hand" id="344" name="Google Shape;3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562" y="694038"/>
            <a:ext cx="43338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12800" y="1917700"/>
            <a:ext cx="5886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6000"/>
              <a:buFont typeface="Source Serif 4"/>
              <a:buNone/>
            </a:pPr>
            <a:r>
              <a:rPr b="1" lang="en-US" sz="6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sz="6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6" name="Google Shape;346;p17"/>
          <p:cNvSpPr txBox="1"/>
          <p:nvPr>
            <p:ph type="title"/>
          </p:nvPr>
        </p:nvSpPr>
        <p:spPr>
          <a:xfrm>
            <a:off x="812800" y="2705100"/>
            <a:ext cx="627888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Product Vision &amp; Scope</a:t>
            </a:r>
            <a:endParaRPr sz="4800"/>
          </a:p>
        </p:txBody>
      </p:sp>
      <p:sp>
        <p:nvSpPr>
          <p:cNvPr id="347" name="Google Shape;347;p17"/>
          <p:cNvSpPr/>
          <p:nvPr/>
        </p:nvSpPr>
        <p:spPr>
          <a:xfrm>
            <a:off x="812800" y="6242050"/>
            <a:ext cx="91567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13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"/>
          <p:cNvSpPr/>
          <p:nvPr/>
        </p:nvSpPr>
        <p:spPr>
          <a:xfrm>
            <a:off x="812800" y="741859"/>
            <a:ext cx="228683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5" name="Google Shape;355;p18"/>
          <p:cNvSpPr txBox="1"/>
          <p:nvPr>
            <p:ph type="title"/>
          </p:nvPr>
        </p:nvSpPr>
        <p:spPr>
          <a:xfrm>
            <a:off x="900499" y="944422"/>
            <a:ext cx="10883392" cy="446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ct val="100000"/>
              <a:buFont typeface="Source Serif 4"/>
              <a:buNone/>
            </a:pPr>
            <a:r>
              <a:rPr b="1" i="0" lang="en-US" sz="304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Product vision </a:t>
            </a:r>
            <a:endParaRPr sz="3040"/>
          </a:p>
        </p:txBody>
      </p:sp>
      <p:sp>
        <p:nvSpPr>
          <p:cNvPr id="356" name="Google Shape;356;p18"/>
          <p:cNvSpPr/>
          <p:nvPr/>
        </p:nvSpPr>
        <p:spPr>
          <a:xfrm>
            <a:off x="900499" y="2826865"/>
            <a:ext cx="1489075" cy="1813123"/>
          </a:xfrm>
          <a:prstGeom prst="roundRect">
            <a:avLst>
              <a:gd fmla="val 938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052899" y="296656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1052899" y="325231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Capture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052899" y="3538065"/>
            <a:ext cx="1235075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Ordinary webcam or phone camera.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arrow-right" id="360" name="Google Shape;3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4035" y="3760114"/>
            <a:ext cx="522739" cy="31364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8"/>
          <p:cNvSpPr/>
          <p:nvPr/>
        </p:nvSpPr>
        <p:spPr>
          <a:xfrm>
            <a:off x="2795974" y="2826865"/>
            <a:ext cx="1489075" cy="2184399"/>
          </a:xfrm>
          <a:prstGeom prst="roundRect">
            <a:avLst>
              <a:gd fmla="val 938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2948374" y="2966565"/>
            <a:ext cx="1235075" cy="22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140"/>
              <a:buFont typeface="Source Sans 3"/>
              <a:buNone/>
            </a:pPr>
            <a:r>
              <a:rPr b="1" lang="en-US" sz="114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2</a:t>
            </a:r>
            <a:endParaRPr sz="114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2948374" y="3241500"/>
            <a:ext cx="1235075" cy="224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75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Track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2948374" y="3516435"/>
            <a:ext cx="1235075" cy="1217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OpenCV preprocessing; MediaPipe hand and face landmarks per frame.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9378778" y="381000"/>
            <a:ext cx="2182667" cy="1867930"/>
          </a:xfrm>
          <a:prstGeom prst="roundRect">
            <a:avLst>
              <a:gd fmla="val 13333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Hand landmarks: MediaPipe tracks 21 points per hand" id="366" name="Google Shape;366;p18"/>
          <p:cNvPicPr preferRelativeResize="0"/>
          <p:nvPr/>
        </p:nvPicPr>
        <p:blipFill rotWithShape="1">
          <a:blip r:embed="rId4">
            <a:alphaModFix/>
          </a:blip>
          <a:srcRect b="0" l="-2717" r="-2717" t="0"/>
          <a:stretch/>
        </p:blipFill>
        <p:spPr>
          <a:xfrm>
            <a:off x="9418911" y="132764"/>
            <a:ext cx="2142533" cy="22617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-right" id="367" name="Google Shape;3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0449" y="3718610"/>
            <a:ext cx="387392" cy="23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row-right" id="368" name="Google Shape;3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5063" y="3617619"/>
            <a:ext cx="487020" cy="29221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8"/>
          <p:cNvSpPr/>
          <p:nvPr/>
        </p:nvSpPr>
        <p:spPr>
          <a:xfrm>
            <a:off x="7023272" y="2839565"/>
            <a:ext cx="1489075" cy="1800423"/>
          </a:xfrm>
          <a:prstGeom prst="roundRect">
            <a:avLst>
              <a:gd fmla="val 938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7175672" y="297926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4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7175672" y="326501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Evaluate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7175672" y="3550765"/>
            <a:ext cx="1235075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Accuracy, precision, recall, F1, confusion matrix.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arrow-right" id="373" name="Google Shape;3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3536" y="3565276"/>
            <a:ext cx="482600" cy="28956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/>
          <p:nvPr/>
        </p:nvSpPr>
        <p:spPr>
          <a:xfrm>
            <a:off x="9077325" y="2839565"/>
            <a:ext cx="1489075" cy="2019299"/>
          </a:xfrm>
          <a:prstGeom prst="roundRect">
            <a:avLst>
              <a:gd fmla="val 938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9229725" y="297926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5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9229725" y="326501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Output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9229725" y="3550765"/>
            <a:ext cx="1235075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Recognised class shown as an Urdu / English text label.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14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4697841" y="2826865"/>
            <a:ext cx="1797222" cy="1813123"/>
          </a:xfrm>
          <a:prstGeom prst="roundRect">
            <a:avLst>
              <a:gd fmla="val 9382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850241" y="296656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8E621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3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4850241" y="3252315"/>
            <a:ext cx="1235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Recognise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4850241" y="3538065"/>
            <a:ext cx="1644822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1) Alphabet Model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2) Sentence Model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3) Expression Model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/>
          <p:nvPr/>
        </p:nvSpPr>
        <p:spPr>
          <a:xfrm>
            <a:off x="884336" y="604838"/>
            <a:ext cx="223182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89" name="Google Shape;389;p19"/>
          <p:cNvSpPr txBox="1"/>
          <p:nvPr>
            <p:ph type="title"/>
          </p:nvPr>
        </p:nvSpPr>
        <p:spPr>
          <a:xfrm>
            <a:off x="812800" y="1085850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focused dataset: 66 classes, three tasks</a:t>
            </a:r>
            <a:endParaRPr sz="3200"/>
          </a:p>
        </p:txBody>
      </p:sp>
      <p:sp>
        <p:nvSpPr>
          <p:cNvPr id="390" name="Google Shape;390;p19"/>
          <p:cNvSpPr/>
          <p:nvPr/>
        </p:nvSpPr>
        <p:spPr>
          <a:xfrm>
            <a:off x="815975" y="1762125"/>
            <a:ext cx="6597650" cy="844550"/>
          </a:xfrm>
          <a:prstGeom prst="roundRect">
            <a:avLst>
              <a:gd fmla="val 17669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996950" y="1879600"/>
            <a:ext cx="10033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55E6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37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2178050" y="1911350"/>
            <a:ext cx="4053066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Urdu alphabet signs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2178050" y="2254250"/>
            <a:ext cx="47220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Alif to Bari Ye: static handshapes for spelling names and words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815975" y="2740025"/>
            <a:ext cx="6597650" cy="844550"/>
          </a:xfrm>
          <a:prstGeom prst="roundRect">
            <a:avLst>
              <a:gd fmla="val 17669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996950" y="2857500"/>
            <a:ext cx="10033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6210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8E621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2178050" y="2889250"/>
            <a:ext cx="427002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Everyday sentences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2178050" y="3232150"/>
            <a:ext cx="49747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Chosen with DWAF students; two-hand, moving, continuous signs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815975" y="3717925"/>
            <a:ext cx="6597650" cy="844550"/>
          </a:xfrm>
          <a:prstGeom prst="roundRect">
            <a:avLst>
              <a:gd fmla="val 17669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996950" y="3835400"/>
            <a:ext cx="10033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9C3F2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2178050" y="3867150"/>
            <a:ext cx="360923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Facial expressions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2178050" y="4210050"/>
            <a:ext cx="42049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Happy, sad, angry, neutral and surprise (FE-01 to FE-05)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7699375" y="1644175"/>
            <a:ext cx="4269900" cy="5213700"/>
          </a:xfrm>
          <a:prstGeom prst="roundRect">
            <a:avLst>
              <a:gd fmla="val 4059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Reference chart of PSL handshapes for the Urdu alphabet" id="403" name="Google Shape;403;p19"/>
          <p:cNvPicPr preferRelativeResize="0"/>
          <p:nvPr/>
        </p:nvPicPr>
        <p:blipFill rotWithShape="1">
          <a:blip r:embed="rId3">
            <a:alphaModFix/>
          </a:blip>
          <a:srcRect b="0" l="-4667" r="-4667" t="0"/>
          <a:stretch/>
        </p:blipFill>
        <p:spPr>
          <a:xfrm>
            <a:off x="7699250" y="1762125"/>
            <a:ext cx="4204924" cy="444166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9"/>
          <p:cNvSpPr/>
          <p:nvPr/>
        </p:nvSpPr>
        <p:spPr>
          <a:xfrm>
            <a:off x="7778300" y="6428700"/>
            <a:ext cx="35187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i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Reference chart: PSL signs for the Urdu alphabet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/>
          <p:nvPr/>
        </p:nvSpPr>
        <p:spPr>
          <a:xfrm>
            <a:off x="7366000" y="1587500"/>
            <a:ext cx="3683000" cy="3683000"/>
          </a:xfrm>
          <a:prstGeom prst="roundRect">
            <a:avLst>
              <a:gd fmla="val 44138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411" name="Google Shape;411;p20"/>
          <p:cNvPicPr preferRelativeResize="0"/>
          <p:nvPr/>
        </p:nvPicPr>
        <p:blipFill rotWithShape="1">
          <a:blip r:embed="rId3">
            <a:alphaModFix/>
          </a:blip>
          <a:srcRect b="0" l="-7" r="-7" t="0"/>
          <a:stretch/>
        </p:blipFill>
        <p:spPr>
          <a:xfrm>
            <a:off x="5960163" y="370350"/>
            <a:ext cx="5886450" cy="550135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0"/>
          <p:cNvSpPr/>
          <p:nvPr/>
        </p:nvSpPr>
        <p:spPr>
          <a:xfrm>
            <a:off x="812800" y="2003425"/>
            <a:ext cx="5886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6000"/>
              <a:buFont typeface="Source Serif 4"/>
              <a:buNone/>
            </a:pPr>
            <a:r>
              <a:rPr b="1" lang="en-US" sz="6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sz="6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13" name="Google Shape;413;p20"/>
          <p:cNvSpPr txBox="1"/>
          <p:nvPr>
            <p:ph type="title"/>
          </p:nvPr>
        </p:nvSpPr>
        <p:spPr>
          <a:xfrm>
            <a:off x="812800" y="2790825"/>
            <a:ext cx="627888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6000"/>
              <a:buFont typeface="Source Serif 4"/>
              <a:buNone/>
            </a:pPr>
            <a:r>
              <a:rPr b="1" i="0" lang="en-US" sz="60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Requirements</a:t>
            </a:r>
            <a:endParaRPr sz="6000"/>
          </a:p>
        </p:txBody>
      </p:sp>
      <p:sp>
        <p:nvSpPr>
          <p:cNvPr id="414" name="Google Shape;414;p20"/>
          <p:cNvSpPr/>
          <p:nvPr/>
        </p:nvSpPr>
        <p:spPr>
          <a:xfrm>
            <a:off x="812800" y="6242050"/>
            <a:ext cx="91567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16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1" name="Google Shape;421;p21"/>
          <p:cNvPicPr preferRelativeResize="0"/>
          <p:nvPr/>
        </p:nvPicPr>
        <p:blipFill rotWithShape="1">
          <a:blip r:embed="rId3">
            <a:alphaModFix/>
          </a:blip>
          <a:srcRect b="0" l="-909" r="-909" t="0"/>
          <a:stretch/>
        </p:blipFill>
        <p:spPr>
          <a:xfrm>
            <a:off x="933450" y="475049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1"/>
          <p:cNvSpPr txBox="1"/>
          <p:nvPr>
            <p:ph type="title"/>
          </p:nvPr>
        </p:nvSpPr>
        <p:spPr>
          <a:xfrm>
            <a:off x="812800" y="929074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Functional requirements: data and alphabet model</a:t>
            </a:r>
            <a:endParaRPr sz="3200"/>
          </a:p>
        </p:txBody>
      </p:sp>
      <p:sp>
        <p:nvSpPr>
          <p:cNvPr id="423" name="Google Shape;423;p21"/>
          <p:cNvSpPr/>
          <p:nvPr/>
        </p:nvSpPr>
        <p:spPr>
          <a:xfrm>
            <a:off x="812800" y="1727200"/>
            <a:ext cx="14097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2247900" y="1628947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2222500" y="1654347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3086100" y="1654347"/>
            <a:ext cx="171638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research deliverable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4802485" y="1628947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4777085" y="1654347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Should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5640685" y="1654347"/>
            <a:ext cx="137547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planned, high value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736600" y="2222500"/>
            <a:ext cx="5207100" cy="3582900"/>
          </a:xfrm>
          <a:prstGeom prst="roundRect">
            <a:avLst>
              <a:gd fmla="val 454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914400" y="2362200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Database" id="432" name="Google Shape;4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2438400"/>
            <a:ext cx="177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1"/>
          <p:cNvSpPr/>
          <p:nvPr/>
        </p:nvSpPr>
        <p:spPr>
          <a:xfrm>
            <a:off x="1333500" y="2422525"/>
            <a:ext cx="146042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 dataset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4894759" y="2422525"/>
            <a:ext cx="10452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FR-01 – FR-06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914400" y="28225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889000" y="28479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1612900" y="27559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dataset shall hold labelled samples for all 37 Urdu alphabet classes.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5054600" y="28225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5029200" y="28479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914400" y="32797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889000" y="33051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1612900" y="32131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dataset shall hold labelled samples for the 24 everyday sentence classes.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5054600" y="32797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5029200" y="33051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914400" y="37369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889000" y="37623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FR-03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1612900" y="36703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dataset shall hold labelled samples for the 5 facial-expression classes.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5054600" y="37369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5029200" y="37623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914400" y="41941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889000" y="42195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FR-04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1612900" y="41275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dataset shall include one-hand, two-hand and movement-based signs.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5054600" y="41941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5029200" y="42195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914400" y="46513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889000" y="46767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FR-05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1612900" y="45847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Sentence samples shall capture continuous signing in 2–5 second clips.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5054600" y="46513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5029200" y="46767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914400" y="51085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889000" y="51339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FR-06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1612900" y="5041900"/>
            <a:ext cx="3453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Samples shall come from multiple group members signers to capture variation.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5054600" y="51085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5029200" y="51339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Should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6096000" y="2222500"/>
            <a:ext cx="5207100" cy="3582900"/>
          </a:xfrm>
          <a:prstGeom prst="roundRect">
            <a:avLst>
              <a:gd fmla="val 4545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6273800" y="2362200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ode" id="467" name="Google Shape;46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000" y="2438400"/>
            <a:ext cx="177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1"/>
          <p:cNvSpPr/>
          <p:nvPr/>
        </p:nvSpPr>
        <p:spPr>
          <a:xfrm>
            <a:off x="6692900" y="2422525"/>
            <a:ext cx="282952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Preparation &amp; alphabet model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10254159" y="2422525"/>
            <a:ext cx="10452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FR-07 – FR-12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6273800" y="28225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6248400" y="28479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FR-07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6972300" y="27559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sample shall be labelled and checked before it is used for training.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10414000" y="28225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10388600" y="28479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6273800" y="32797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6248400" y="33051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FR-08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6972300" y="32131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Recorded frames and videos shall be preprocessed with OpenCV.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10414000" y="32797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10388600" y="33051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6273800" y="37369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6248400" y="37623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FR-09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6972300" y="36703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MediaPipe shall extract hand landmarks from every frame.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10414000" y="37369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10388600" y="37623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6273800" y="41941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6248400" y="42195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FR-10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6972300" y="41275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MediaPipe shall locate the face region for the expression model.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10414000" y="41941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10388600" y="42195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6273800" y="46513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6248400" y="46767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6972300" y="45847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alphabet CNN shall classify a static handshape into 1 of 37 classes.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10414000" y="46513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10388600" y="46767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6273800" y="5108575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6248400" y="5133975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6972300" y="50419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alphabet model shall be trained and tested on the custom dataset.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10414000" y="51085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10388600" y="5133975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17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2"/>
          <p:cNvSpPr/>
          <p:nvPr/>
        </p:nvSpPr>
        <p:spPr>
          <a:xfrm>
            <a:off x="1219200" y="758825"/>
            <a:ext cx="443353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7" name="Google Shape;507;p22"/>
          <p:cNvSpPr txBox="1"/>
          <p:nvPr>
            <p:ph type="title"/>
          </p:nvPr>
        </p:nvSpPr>
        <p:spPr>
          <a:xfrm>
            <a:off x="812800" y="1211691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Functional requirements: models and evaluation</a:t>
            </a:r>
            <a:endParaRPr sz="3200"/>
          </a:p>
        </p:txBody>
      </p:sp>
      <p:sp>
        <p:nvSpPr>
          <p:cNvPr id="508" name="Google Shape;508;p22"/>
          <p:cNvSpPr/>
          <p:nvPr/>
        </p:nvSpPr>
        <p:spPr>
          <a:xfrm>
            <a:off x="812800" y="1899508"/>
            <a:ext cx="5207000" cy="3352800"/>
          </a:xfrm>
          <a:prstGeom prst="roundRect">
            <a:avLst>
              <a:gd fmla="val 4545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990600" y="2039208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Activity" id="510" name="Google Shape;5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115408"/>
            <a:ext cx="177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2"/>
          <p:cNvSpPr/>
          <p:nvPr/>
        </p:nvSpPr>
        <p:spPr>
          <a:xfrm>
            <a:off x="1409700" y="2099533"/>
            <a:ext cx="284630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Sentence &amp; expression models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4970959" y="2099533"/>
            <a:ext cx="10452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FR-13 – FR-17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990600" y="24995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965200" y="25249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FR-13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1689100" y="24329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sentence LSTM shall classify a landmark sequence into 1 of 24 sentences.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5130800" y="24995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5105400" y="25249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990600" y="29567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965200" y="29821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FR-14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1689100" y="28901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sentence model shall use hand movement over time, not single frames.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5130800" y="29567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5105400" y="29821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990600" y="34139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965200" y="34393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FR-15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1689100" y="33473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Sentence classes shall match the expressions chosen by DWAF students.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5130800" y="34139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5105400" y="34393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990600" y="38711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965200" y="38965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FR-16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1689100" y="38045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expression CNN shall classify happy, sad, angry, neutral or surprise.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130800" y="38711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105400" y="38965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990600" y="43283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965200" y="43537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FR-17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1689100" y="42617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Expression output shall be used where it changes a sign’s meaning.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5130800" y="43283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5105400" y="43537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Should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965200" y="48109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1689100" y="47189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5105400" y="48109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6172200" y="1899508"/>
            <a:ext cx="5207000" cy="3352800"/>
          </a:xfrm>
          <a:prstGeom prst="roundRect">
            <a:avLst>
              <a:gd fmla="val 4545" name="adj"/>
            </a:avLst>
          </a:prstGeom>
          <a:solidFill>
            <a:srgbClr val="FAF2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6350000" y="2039208"/>
            <a:ext cx="330200" cy="3302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hart" id="543" name="Google Shape;5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6200" y="2115408"/>
            <a:ext cx="177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2"/>
          <p:cNvSpPr/>
          <p:nvPr/>
        </p:nvSpPr>
        <p:spPr>
          <a:xfrm>
            <a:off x="6769100" y="2099533"/>
            <a:ext cx="334232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Integration, evaluation &amp; validation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10330359" y="2099533"/>
            <a:ext cx="104525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FR-18 – FR-22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6350000" y="24995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6324600" y="25249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FR-18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7048500" y="24329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three models shall work as one system, without manual model selection.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10490200" y="24995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10464800" y="25249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Should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6350000" y="29567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6324600" y="29821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FR-19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7048500" y="28901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 shall output the predicted class label for each valid input video sample after detecting and recognizing the sign</a:t>
            </a: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10490200" y="29567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10464800" y="29821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6350000" y="367433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6311900" y="368703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FR-20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7048500" y="363348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shall be split into training, validation and test sets for each model.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10505632" y="3673412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10440773" y="3686218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6350000" y="415693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6324600" y="415693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FR-21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7036816" y="4139900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model shall report accuracy, precision, recall, F1 and a confusion matrix.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10497384" y="4219275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10480232" y="4230388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6324600" y="43537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7048500" y="42617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10464800" y="43537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6350000" y="4785583"/>
            <a:ext cx="6096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6324600" y="4810983"/>
            <a:ext cx="6604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FR-22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7048500" y="4718908"/>
            <a:ext cx="3453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DWAF teacher shall validate sampled predictions against the intended signs.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10490200" y="4785583"/>
            <a:ext cx="711200" cy="26035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10464800" y="4810983"/>
            <a:ext cx="7620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Must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18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3"/>
          <p:cNvSpPr/>
          <p:nvPr/>
        </p:nvSpPr>
        <p:spPr>
          <a:xfrm>
            <a:off x="7366000" y="1587500"/>
            <a:ext cx="3683000" cy="3683000"/>
          </a:xfrm>
          <a:prstGeom prst="roundRect">
            <a:avLst>
              <a:gd fmla="val 44138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581" name="Google Shape;581;p23"/>
          <p:cNvPicPr preferRelativeResize="0"/>
          <p:nvPr/>
        </p:nvPicPr>
        <p:blipFill rotWithShape="1">
          <a:blip r:embed="rId3">
            <a:alphaModFix/>
          </a:blip>
          <a:srcRect b="-67" l="0" r="0" t="-67"/>
          <a:stretch/>
        </p:blipFill>
        <p:spPr>
          <a:xfrm>
            <a:off x="6671221" y="137470"/>
            <a:ext cx="4469308" cy="6430659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3"/>
          <p:cNvSpPr/>
          <p:nvPr/>
        </p:nvSpPr>
        <p:spPr>
          <a:xfrm>
            <a:off x="812800" y="1917700"/>
            <a:ext cx="588645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6000"/>
              <a:buFont typeface="Source Serif 4"/>
              <a:buNone/>
            </a:pPr>
            <a:r>
              <a:rPr b="1" lang="en-US" sz="6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sz="6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83" name="Google Shape;583;p23"/>
          <p:cNvSpPr txBox="1"/>
          <p:nvPr>
            <p:ph type="title"/>
          </p:nvPr>
        </p:nvSpPr>
        <p:spPr>
          <a:xfrm>
            <a:off x="616585" y="2705099"/>
            <a:ext cx="627888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Feasibility, Impact &amp; Plan</a:t>
            </a:r>
            <a:endParaRPr sz="4800"/>
          </a:p>
        </p:txBody>
      </p:sp>
      <p:sp>
        <p:nvSpPr>
          <p:cNvPr id="584" name="Google Shape;584;p23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19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4"/>
          <p:cNvSpPr txBox="1"/>
          <p:nvPr>
            <p:ph type="title"/>
          </p:nvPr>
        </p:nvSpPr>
        <p:spPr>
          <a:xfrm>
            <a:off x="812800" y="863600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Why this plan is feasible</a:t>
            </a:r>
            <a:endParaRPr sz="3200"/>
          </a:p>
        </p:txBody>
      </p:sp>
      <p:sp>
        <p:nvSpPr>
          <p:cNvPr id="591" name="Google Shape;591;p24"/>
          <p:cNvSpPr/>
          <p:nvPr/>
        </p:nvSpPr>
        <p:spPr>
          <a:xfrm>
            <a:off x="812800" y="1758950"/>
            <a:ext cx="3429000" cy="1892300"/>
          </a:xfrm>
          <a:prstGeom prst="roundRect">
            <a:avLst>
              <a:gd fmla="val 8054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1003300" y="1936750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ode" id="593" name="Google Shape;5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" y="202565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4"/>
          <p:cNvSpPr/>
          <p:nvPr/>
        </p:nvSpPr>
        <p:spPr>
          <a:xfrm>
            <a:off x="1485900" y="2022475"/>
            <a:ext cx="88677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Technical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1003300" y="2393950"/>
            <a:ext cx="3139440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Our methods are proven in prior research: an LSTM on MediaPipe landmarks reached 94.3% on dynamic signs (Paul 2024), and CNN alphabet models report 94–99.6% (Miah 2022; Zakariah 2022).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4394200" y="1758950"/>
            <a:ext cx="3429000" cy="1892300"/>
          </a:xfrm>
          <a:prstGeom prst="roundRect">
            <a:avLst>
              <a:gd fmla="val 8054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4584700" y="1936750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Database" id="598" name="Google Shape;5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3600" y="202565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4"/>
          <p:cNvSpPr/>
          <p:nvPr/>
        </p:nvSpPr>
        <p:spPr>
          <a:xfrm>
            <a:off x="5067300" y="2022475"/>
            <a:ext cx="126134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&amp; access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4584700" y="2393949"/>
            <a:ext cx="3139440" cy="658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Our team and volunteers will record a custom dataset of about 4,500 videos across the 66 classes. Let a teacher validate our labels and predictions.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01" name="Google Shape;601;p24"/>
          <p:cNvSpPr/>
          <p:nvPr/>
        </p:nvSpPr>
        <p:spPr>
          <a:xfrm>
            <a:off x="812800" y="3803650"/>
            <a:ext cx="3429000" cy="1892300"/>
          </a:xfrm>
          <a:prstGeom prst="roundRect">
            <a:avLst>
              <a:gd fmla="val 8054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1003300" y="3981450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Settings" id="603" name="Google Shape;60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2200" y="407035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4"/>
          <p:cNvSpPr/>
          <p:nvPr/>
        </p:nvSpPr>
        <p:spPr>
          <a:xfrm>
            <a:off x="1485900" y="4067175"/>
            <a:ext cx="112097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Operational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1003300" y="4438650"/>
            <a:ext cx="3139440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Recording and testing need only an ordinary webcam or phone camera, with no sensor gloves, radar or Leap Motion. Free, open-source tools like OpenCV and MediaPipe keep costs low.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06" name="Google Shape;606;p24"/>
          <p:cNvSpPr/>
          <p:nvPr/>
        </p:nvSpPr>
        <p:spPr>
          <a:xfrm>
            <a:off x="4394200" y="3803650"/>
            <a:ext cx="3429000" cy="1892300"/>
          </a:xfrm>
          <a:prstGeom prst="roundRect">
            <a:avLst>
              <a:gd fmla="val 8054" name="adj"/>
            </a:avLst>
          </a:prstGeom>
          <a:solidFill>
            <a:srgbClr val="E7F0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4584700" y="3981450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lock" id="608" name="Google Shape;6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3600" y="407035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4"/>
          <p:cNvSpPr/>
          <p:nvPr/>
        </p:nvSpPr>
        <p:spPr>
          <a:xfrm>
            <a:off x="5067300" y="4067175"/>
            <a:ext cx="194441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Schedule &amp; adoption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4584700" y="4438650"/>
            <a:ext cx="3139440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closed set of 66 classes (37 letters, 24 sentences, 5 expressions) fits our two semester plan. DWAF's 82 deaf students and their teachers give us a ready group for testing and feedback.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8242300" y="5372100"/>
            <a:ext cx="306095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Sans 3"/>
              <a:buNone/>
            </a:pPr>
            <a:r>
              <a:t/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20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Online meeting with the DWAF principal" id="613" name="Google Shape;613;p24"/>
          <p:cNvPicPr preferRelativeResize="0"/>
          <p:nvPr/>
        </p:nvPicPr>
        <p:blipFill rotWithShape="1">
          <a:blip r:embed="rId7">
            <a:alphaModFix/>
          </a:blip>
          <a:srcRect b="52581" l="61806" r="10323" t="11774"/>
          <a:stretch/>
        </p:blipFill>
        <p:spPr>
          <a:xfrm>
            <a:off x="8096035" y="1122032"/>
            <a:ext cx="3809707" cy="4872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"/>
          <p:cNvSpPr txBox="1"/>
          <p:nvPr>
            <p:ph type="title"/>
          </p:nvPr>
        </p:nvSpPr>
        <p:spPr>
          <a:xfrm>
            <a:off x="812800" y="876557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SDG alignment: three goals our research serves</a:t>
            </a:r>
            <a:endParaRPr sz="3200"/>
          </a:p>
        </p:txBody>
      </p:sp>
      <p:sp>
        <p:nvSpPr>
          <p:cNvPr id="620" name="Google Shape;620;p25"/>
          <p:cNvSpPr/>
          <p:nvPr/>
        </p:nvSpPr>
        <p:spPr>
          <a:xfrm>
            <a:off x="739902" y="1590675"/>
            <a:ext cx="3403600" cy="958850"/>
          </a:xfrm>
          <a:prstGeom prst="roundRect">
            <a:avLst>
              <a:gd fmla="val 15894" name="adj"/>
            </a:avLst>
          </a:prstGeom>
          <a:solidFill>
            <a:srgbClr val="E860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930402" y="1765300"/>
            <a:ext cx="36909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1390380" y="1743075"/>
            <a:ext cx="263950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WE BUILD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1390380" y="1978025"/>
            <a:ext cx="2639501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Industry, Innovation &amp; Infrastructure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4" name="Google Shape;624;p25"/>
          <p:cNvSpPr/>
          <p:nvPr/>
        </p:nvSpPr>
        <p:spPr>
          <a:xfrm>
            <a:off x="812800" y="2781300"/>
            <a:ext cx="3403600" cy="1225550"/>
          </a:xfrm>
          <a:prstGeom prst="roundRect">
            <a:avLst>
              <a:gd fmla="val 10989" name="adj"/>
            </a:avLst>
          </a:prstGeom>
          <a:solidFill>
            <a:srgbClr val="FCE6D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984250" y="2930525"/>
            <a:ext cx="316560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A8410C"/>
              </a:buClr>
              <a:buSzPts val="2000"/>
              <a:buFont typeface="Source Sans 3"/>
              <a:buNone/>
            </a:pPr>
            <a:r>
              <a:rPr b="1" lang="en-US" sz="2000">
                <a:solidFill>
                  <a:srgbClr val="A8410C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 9.5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977900" y="3238500"/>
            <a:ext cx="3165602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Enhance scientific research and upgrade technological capabilities, encouraging innovation.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812800" y="4229100"/>
            <a:ext cx="3397250" cy="1241168"/>
          </a:xfrm>
          <a:prstGeom prst="roundRect">
            <a:avLst>
              <a:gd fmla="val 7222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981075" y="4371975"/>
            <a:ext cx="315252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 our project contributes</a:t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978089" y="4724400"/>
            <a:ext cx="313766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5194" lvl="0" marL="155194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600"/>
              <a:buFont typeface="Source Sans 3"/>
              <a:buChar char="•"/>
            </a:pPr>
            <a:r>
              <a:rPr lang="en-US" sz="16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new custom USL dataset: 37 + 24 + 5 labelled classes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4321302" y="1590675"/>
            <a:ext cx="3403600" cy="914400"/>
          </a:xfrm>
          <a:prstGeom prst="roundRect">
            <a:avLst>
              <a:gd fmla="val 16667" name="adj"/>
            </a:avLst>
          </a:prstGeom>
          <a:solidFill>
            <a:srgbClr val="DD136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4511802" y="1743075"/>
            <a:ext cx="83200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10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5357543" y="1825625"/>
            <a:ext cx="169267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WHO BENEFITS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5357543" y="2060575"/>
            <a:ext cx="1970246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Reduced Inequalities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4394200" y="2781301"/>
            <a:ext cx="3403600" cy="1149348"/>
          </a:xfrm>
          <a:prstGeom prst="roundRect">
            <a:avLst>
              <a:gd fmla="val 13423" name="adj"/>
            </a:avLst>
          </a:prstGeom>
          <a:solidFill>
            <a:srgbClr val="FBE3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4559300" y="2890110"/>
            <a:ext cx="316560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B00E52"/>
              </a:buClr>
              <a:buSzPts val="2000"/>
              <a:buFont typeface="Source Sans 3"/>
              <a:buNone/>
            </a:pPr>
            <a:r>
              <a:rPr b="1" lang="en-US" sz="2000">
                <a:solidFill>
                  <a:srgbClr val="B00E52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 10.2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4559300" y="3194050"/>
            <a:ext cx="316560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Promote the social, economic and political inclusion of all, irrespective of disability.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4357208" y="4206875"/>
            <a:ext cx="3397250" cy="1263393"/>
          </a:xfrm>
          <a:prstGeom prst="roundRect">
            <a:avLst>
              <a:gd fmla="val 6290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4556125" y="4344856"/>
            <a:ext cx="315252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 our project contributes</a:t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4584065" y="4632065"/>
            <a:ext cx="313766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5194" lvl="0" marL="155194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600"/>
              <a:buFont typeface="Source Sans 3"/>
              <a:buChar char="•"/>
            </a:pPr>
            <a:r>
              <a:rPr lang="en-US" sz="16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Research toward communication that doesn’t depend on an interpreter being present.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7902702" y="1590675"/>
            <a:ext cx="3403600" cy="914400"/>
          </a:xfrm>
          <a:prstGeom prst="roundRect">
            <a:avLst>
              <a:gd fmla="val 16667" name="adj"/>
            </a:avLst>
          </a:prstGeom>
          <a:solidFill>
            <a:srgbClr val="C519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8093202" y="1743075"/>
            <a:ext cx="4160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</a:t>
            </a:r>
            <a:endParaRPr sz="4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8592272" y="1825625"/>
            <a:ext cx="168104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Source Sans 3"/>
              <a:buNone/>
            </a:pPr>
            <a:r>
              <a:rPr b="1" lang="en-US" sz="16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WHERE IT HELPS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8592272" y="2060575"/>
            <a:ext cx="168104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ans 3"/>
              <a:buNone/>
            </a:pPr>
            <a:r>
              <a:rPr b="1" lang="en-US" sz="14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Quality Education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7975600" y="2781300"/>
            <a:ext cx="3403600" cy="1149350"/>
          </a:xfrm>
          <a:prstGeom prst="roundRect">
            <a:avLst>
              <a:gd fmla="val 13423" name="adj"/>
            </a:avLst>
          </a:prstGeom>
          <a:solidFill>
            <a:srgbClr val="F9E1E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8140700" y="2895085"/>
            <a:ext cx="316560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A3141F"/>
              </a:buClr>
              <a:buSzPts val="2000"/>
              <a:buFont typeface="Source Sans 3"/>
              <a:buNone/>
            </a:pPr>
            <a:r>
              <a:rPr b="1" lang="en-US" sz="2000">
                <a:solidFill>
                  <a:srgbClr val="A3141F"/>
                </a:solidFill>
                <a:latin typeface="Source Sans 3"/>
                <a:ea typeface="Source Sans 3"/>
                <a:cs typeface="Source Sans 3"/>
                <a:sym typeface="Source Sans 3"/>
              </a:rPr>
              <a:t>TARGETS 4.5 &amp; 4.A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8140700" y="3194050"/>
            <a:ext cx="316560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600"/>
              <a:buFont typeface="Source Sans 3"/>
              <a:buNone/>
            </a:pPr>
            <a:r>
              <a:rPr lang="en-US" sz="16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Equal access to education for persons with disabilities, in inclusive learning environments.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7" name="Google Shape;647;p25"/>
          <p:cNvSpPr/>
          <p:nvPr/>
        </p:nvSpPr>
        <p:spPr>
          <a:xfrm>
            <a:off x="7975600" y="4206875"/>
            <a:ext cx="3397250" cy="1263392"/>
          </a:xfrm>
          <a:prstGeom prst="roundRect">
            <a:avLst>
              <a:gd fmla="val 6290" name="adj"/>
            </a:avLst>
          </a:prstGeom>
          <a:solidFill>
            <a:srgbClr val="FFFFFF"/>
          </a:solidFill>
          <a:ln cap="flat" cmpd="sng" w="9525">
            <a:solidFill>
              <a:srgbClr val="DCE6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8143875" y="4349750"/>
            <a:ext cx="315252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 our project contributes</a:t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8103538" y="4664075"/>
            <a:ext cx="313766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5194" lvl="0" marL="155194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600"/>
              <a:buFont typeface="Source Sans 3"/>
              <a:buChar char="•"/>
            </a:pPr>
            <a:r>
              <a:rPr lang="en-US" sz="16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A local USL dataset others can extend for teaching and future research</a:t>
            </a:r>
            <a:endParaRPr sz="16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21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6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6"/>
          <p:cNvSpPr txBox="1"/>
          <p:nvPr>
            <p:ph type="title"/>
          </p:nvPr>
        </p:nvSpPr>
        <p:spPr>
          <a:xfrm>
            <a:off x="812800" y="872682"/>
            <a:ext cx="108833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0E2A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Project timeline: September 2026 – June 2027</a:t>
            </a:r>
            <a:endParaRPr sz="3200"/>
          </a:p>
        </p:txBody>
      </p:sp>
      <p:sp>
        <p:nvSpPr>
          <p:cNvPr id="657" name="Google Shape;657;p26"/>
          <p:cNvSpPr/>
          <p:nvPr/>
        </p:nvSpPr>
        <p:spPr>
          <a:xfrm>
            <a:off x="812800" y="1650557"/>
            <a:ext cx="152400" cy="152400"/>
          </a:xfrm>
          <a:prstGeom prst="roundRect">
            <a:avLst>
              <a:gd fmla="val 25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1016000" y="1621982"/>
            <a:ext cx="402431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Done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59" name="Google Shape;659;p26"/>
          <p:cNvSpPr/>
          <p:nvPr/>
        </p:nvSpPr>
        <p:spPr>
          <a:xfrm>
            <a:off x="2070100" y="1650557"/>
            <a:ext cx="152400" cy="152400"/>
          </a:xfrm>
          <a:prstGeom prst="roundRect">
            <a:avLst>
              <a:gd fmla="val 25000" name="adj"/>
            </a:avLst>
          </a:prstGeom>
          <a:solidFill>
            <a:srgbClr val="23798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2273300" y="1621982"/>
            <a:ext cx="35254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812800" y="1980757"/>
            <a:ext cx="152400" cy="152400"/>
          </a:xfrm>
          <a:prstGeom prst="roundRect">
            <a:avLst>
              <a:gd fmla="val 25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1016000" y="1952182"/>
            <a:ext cx="54756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2070100" y="1980757"/>
            <a:ext cx="152400" cy="152400"/>
          </a:xfrm>
          <a:prstGeom prst="roundRect">
            <a:avLst>
              <a:gd fmla="val 25000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2273300" y="1952182"/>
            <a:ext cx="65436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5661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3E5661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5" name="Google Shape;665;p26"/>
          <p:cNvSpPr/>
          <p:nvPr/>
        </p:nvSpPr>
        <p:spPr>
          <a:xfrm>
            <a:off x="812800" y="2196657"/>
            <a:ext cx="2565400" cy="254000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914400" y="2218882"/>
            <a:ext cx="76983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Milestones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812800" y="2450657"/>
            <a:ext cx="2565400" cy="254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14400" y="2472882"/>
            <a:ext cx="1280716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D1 · Target market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812800" y="2704657"/>
            <a:ext cx="2565400" cy="254000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914400" y="2726882"/>
            <a:ext cx="175581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D2 · Problem &amp; elicitation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812800" y="2958657"/>
            <a:ext cx="2565400" cy="254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914400" y="2980882"/>
            <a:ext cx="161607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D3 · Requirements spec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812800" y="3212657"/>
            <a:ext cx="2565400" cy="254000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914400" y="3234882"/>
            <a:ext cx="173196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Custom Dataset recording 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812800" y="3466657"/>
            <a:ext cx="2565400" cy="254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914400" y="3488882"/>
            <a:ext cx="146982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Labelling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7" name="Google Shape;677;p26"/>
          <p:cNvSpPr/>
          <p:nvPr/>
        </p:nvSpPr>
        <p:spPr>
          <a:xfrm>
            <a:off x="812800" y="3720657"/>
            <a:ext cx="2565400" cy="254000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8" name="Google Shape;678;p26"/>
          <p:cNvSpPr/>
          <p:nvPr/>
        </p:nvSpPr>
        <p:spPr>
          <a:xfrm>
            <a:off x="914400" y="3742882"/>
            <a:ext cx="147230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Alphabet model 9((((</a:t>
            </a: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EfficientNetV2-S </a:t>
            </a: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)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79" name="Google Shape;679;p26"/>
          <p:cNvSpPr/>
          <p:nvPr/>
        </p:nvSpPr>
        <p:spPr>
          <a:xfrm>
            <a:off x="812800" y="3974657"/>
            <a:ext cx="2565400" cy="254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0" name="Google Shape;680;p26"/>
          <p:cNvSpPr/>
          <p:nvPr/>
        </p:nvSpPr>
        <p:spPr>
          <a:xfrm>
            <a:off x="914400" y="3996882"/>
            <a:ext cx="1582738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Expression model 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1" name="Google Shape;681;p26"/>
          <p:cNvSpPr/>
          <p:nvPr/>
        </p:nvSpPr>
        <p:spPr>
          <a:xfrm>
            <a:off x="812800" y="4228657"/>
            <a:ext cx="2565400" cy="254000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914400" y="4250882"/>
            <a:ext cx="1543745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Sentence model (LSTM)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3" name="Google Shape;683;p26"/>
          <p:cNvSpPr/>
          <p:nvPr/>
        </p:nvSpPr>
        <p:spPr>
          <a:xfrm>
            <a:off x="812800" y="4482657"/>
            <a:ext cx="2565400" cy="254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4" name="Google Shape;684;p26"/>
          <p:cNvSpPr/>
          <p:nvPr/>
        </p:nvSpPr>
        <p:spPr>
          <a:xfrm>
            <a:off x="914400" y="4504882"/>
            <a:ext cx="1580257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Integration &amp; evaluation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5" name="Google Shape;685;p26"/>
          <p:cNvSpPr/>
          <p:nvPr/>
        </p:nvSpPr>
        <p:spPr>
          <a:xfrm>
            <a:off x="812800" y="4736657"/>
            <a:ext cx="2565400" cy="254000"/>
          </a:xfrm>
          <a:prstGeom prst="rect">
            <a:avLst/>
          </a:prstGeom>
          <a:solidFill>
            <a:srgbClr val="EEF4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6" name="Google Shape;686;p26"/>
          <p:cNvSpPr/>
          <p:nvPr/>
        </p:nvSpPr>
        <p:spPr>
          <a:xfrm>
            <a:off x="914400" y="4758882"/>
            <a:ext cx="169882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Testing &amp; validation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7" name="Google Shape;687;p26"/>
          <p:cNvSpPr/>
          <p:nvPr/>
        </p:nvSpPr>
        <p:spPr>
          <a:xfrm>
            <a:off x="812800" y="4990657"/>
            <a:ext cx="2565400" cy="254000"/>
          </a:xfrm>
          <a:prstGeom prst="rect">
            <a:avLst/>
          </a:prstGeom>
          <a:solidFill>
            <a:srgbClr val="F5F8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8" name="Google Shape;688;p26"/>
          <p:cNvSpPr/>
          <p:nvPr/>
        </p:nvSpPr>
        <p:spPr>
          <a:xfrm>
            <a:off x="914400" y="5012882"/>
            <a:ext cx="193394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2A35"/>
              </a:buClr>
              <a:buSzPts val="1200"/>
              <a:buFont typeface="Source Sans 3"/>
              <a:buNone/>
            </a:pPr>
            <a:r>
              <a:rPr lang="en-US" sz="1200">
                <a:solidFill>
                  <a:srgbClr val="0E2A35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Final report &amp; documentation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89" name="Google Shape;689;p26"/>
          <p:cNvSpPr/>
          <p:nvPr/>
        </p:nvSpPr>
        <p:spPr>
          <a:xfrm>
            <a:off x="3378200" y="1587057"/>
            <a:ext cx="3975100" cy="254000"/>
          </a:xfrm>
          <a:custGeom>
            <a:rect b="b" l="l" r="r" t="t"/>
            <a:pathLst>
              <a:path extrusionOk="0" h="254000" w="3975100">
                <a:moveTo>
                  <a:pt x="76200" y="0"/>
                </a:moveTo>
                <a:lnTo>
                  <a:pt x="3898900" y="0"/>
                </a:lnTo>
                <a:cubicBezTo>
                  <a:pt x="3919109" y="0"/>
                  <a:pt x="3938491" y="8028"/>
                  <a:pt x="3952782" y="22318"/>
                </a:cubicBezTo>
                <a:cubicBezTo>
                  <a:pt x="3967072" y="36609"/>
                  <a:pt x="3975100" y="55991"/>
                  <a:pt x="3975100" y="76200"/>
                </a:cubicBezTo>
                <a:lnTo>
                  <a:pt x="3975100" y="177800"/>
                </a:lnTo>
                <a:cubicBezTo>
                  <a:pt x="3975100" y="219884"/>
                  <a:pt x="3940984" y="254000"/>
                  <a:pt x="3898900" y="254000"/>
                </a:cubicBezTo>
                <a:lnTo>
                  <a:pt x="76200" y="254000"/>
                </a:lnTo>
                <a:cubicBezTo>
                  <a:pt x="34116" y="254000"/>
                  <a:pt x="0" y="219884"/>
                  <a:pt x="0" y="17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E2A3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FYP-I · Fall 2026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0" name="Google Shape;690;p26"/>
          <p:cNvSpPr/>
          <p:nvPr/>
        </p:nvSpPr>
        <p:spPr>
          <a:xfrm>
            <a:off x="7404100" y="1587057"/>
            <a:ext cx="3975100" cy="254000"/>
          </a:xfrm>
          <a:custGeom>
            <a:rect b="b" l="l" r="r" t="t"/>
            <a:pathLst>
              <a:path extrusionOk="0" h="254000" w="3975100">
                <a:moveTo>
                  <a:pt x="76200" y="0"/>
                </a:moveTo>
                <a:lnTo>
                  <a:pt x="3898900" y="0"/>
                </a:lnTo>
                <a:cubicBezTo>
                  <a:pt x="3919109" y="0"/>
                  <a:pt x="3938491" y="8028"/>
                  <a:pt x="3952782" y="22318"/>
                </a:cubicBezTo>
                <a:cubicBezTo>
                  <a:pt x="3967072" y="36609"/>
                  <a:pt x="3975100" y="55991"/>
                  <a:pt x="3975100" y="76200"/>
                </a:cubicBezTo>
                <a:lnTo>
                  <a:pt x="3975100" y="177800"/>
                </a:lnTo>
                <a:cubicBezTo>
                  <a:pt x="3975100" y="219884"/>
                  <a:pt x="3940984" y="254000"/>
                  <a:pt x="3898900" y="254000"/>
                </a:cubicBezTo>
                <a:lnTo>
                  <a:pt x="76200" y="254000"/>
                </a:lnTo>
                <a:cubicBezTo>
                  <a:pt x="34116" y="254000"/>
                  <a:pt x="0" y="219884"/>
                  <a:pt x="0" y="17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55E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F7FAF8"/>
                </a:solidFill>
                <a:latin typeface="Source Sans 3"/>
                <a:ea typeface="Source Sans 3"/>
                <a:cs typeface="Source Sans 3"/>
                <a:sym typeface="Source Sans 3"/>
              </a:rPr>
              <a:t>FYP-II · Spring 2027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1" name="Google Shape;691;p26"/>
          <p:cNvSpPr/>
          <p:nvPr/>
        </p:nvSpPr>
        <p:spPr>
          <a:xfrm>
            <a:off x="33528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Sep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41529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Oct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3" name="Google Shape;693;p26"/>
          <p:cNvSpPr/>
          <p:nvPr/>
        </p:nvSpPr>
        <p:spPr>
          <a:xfrm>
            <a:off x="49530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Nov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57531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5" name="Google Shape;695;p26"/>
          <p:cNvSpPr/>
          <p:nvPr/>
        </p:nvSpPr>
        <p:spPr>
          <a:xfrm>
            <a:off x="65532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Jan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6" name="Google Shape;696;p26"/>
          <p:cNvSpPr/>
          <p:nvPr/>
        </p:nvSpPr>
        <p:spPr>
          <a:xfrm>
            <a:off x="73533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Feb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81534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89535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Apr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97536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May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00" name="Google Shape;700;p26"/>
          <p:cNvSpPr/>
          <p:nvPr/>
        </p:nvSpPr>
        <p:spPr>
          <a:xfrm>
            <a:off x="10553700" y="1929957"/>
            <a:ext cx="8509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737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5F737B"/>
                </a:solidFill>
                <a:latin typeface="Source Sans 3"/>
                <a:ea typeface="Source Sans 3"/>
                <a:cs typeface="Source Sans 3"/>
                <a:sym typeface="Source Sans 3"/>
              </a:rPr>
              <a:t>Jun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01" name="Google Shape;701;p26"/>
          <p:cNvSpPr/>
          <p:nvPr/>
        </p:nvSpPr>
        <p:spPr>
          <a:xfrm>
            <a:off x="3378200" y="2196650"/>
            <a:ext cx="8001000" cy="3197100"/>
          </a:xfrm>
          <a:prstGeom prst="rect">
            <a:avLst/>
          </a:prstGeom>
          <a:gradFill>
            <a:gsLst>
              <a:gs pos="0">
                <a:srgbClr val="D5E2DF"/>
              </a:gs>
              <a:gs pos="1587">
                <a:srgbClr val="D5E2DF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702" name="Google Shape;702;p26"/>
          <p:cNvCxnSpPr/>
          <p:nvPr/>
        </p:nvCxnSpPr>
        <p:spPr>
          <a:xfrm>
            <a:off x="4264025" y="2196657"/>
            <a:ext cx="0" cy="3048000"/>
          </a:xfrm>
          <a:prstGeom prst="straightConnector1">
            <a:avLst/>
          </a:prstGeom>
          <a:noFill/>
          <a:ln cap="flat" cmpd="sng" w="19050">
            <a:solidFill>
              <a:srgbClr val="B4502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03" name="Google Shape;703;p26"/>
          <p:cNvSpPr/>
          <p:nvPr/>
        </p:nvSpPr>
        <p:spPr>
          <a:xfrm>
            <a:off x="3429000" y="2501457"/>
            <a:ext cx="266700" cy="15240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heckCircle" id="704" name="Google Shape;7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100" y="2476057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26"/>
          <p:cNvSpPr/>
          <p:nvPr/>
        </p:nvSpPr>
        <p:spPr>
          <a:xfrm>
            <a:off x="3594100" y="2755457"/>
            <a:ext cx="425450" cy="15240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heckCircle" id="706" name="Google Shape;7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4950" y="2730057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6"/>
          <p:cNvSpPr/>
          <p:nvPr/>
        </p:nvSpPr>
        <p:spPr>
          <a:xfrm>
            <a:off x="3860800" y="3009457"/>
            <a:ext cx="317500" cy="152400"/>
          </a:xfrm>
          <a:prstGeom prst="roundRect">
            <a:avLst>
              <a:gd fmla="val 50000" name="adj"/>
            </a:avLst>
          </a:prstGeom>
          <a:solidFill>
            <a:srgbClr val="D9A4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CheckCircle" id="708" name="Google Shape;7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3700" y="2984057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26"/>
          <p:cNvSpPr/>
          <p:nvPr/>
        </p:nvSpPr>
        <p:spPr>
          <a:xfrm>
            <a:off x="4279646" y="3263457"/>
            <a:ext cx="1974850" cy="152400"/>
          </a:xfrm>
          <a:prstGeom prst="roundRect">
            <a:avLst>
              <a:gd fmla="val 50000" name="adj"/>
            </a:avLst>
          </a:prstGeom>
          <a:solidFill>
            <a:srgbClr val="23798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5003800" y="3517457"/>
            <a:ext cx="2108200" cy="152400"/>
          </a:xfrm>
          <a:prstGeom prst="roundRect">
            <a:avLst>
              <a:gd fmla="val 50000" name="adj"/>
            </a:avLst>
          </a:prstGeom>
          <a:solidFill>
            <a:srgbClr val="23798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1" name="Google Shape;711;p26"/>
          <p:cNvSpPr/>
          <p:nvPr/>
        </p:nvSpPr>
        <p:spPr>
          <a:xfrm>
            <a:off x="5803900" y="3771457"/>
            <a:ext cx="1441450" cy="1524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6604000" y="4025457"/>
            <a:ext cx="1441450" cy="1524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6845300" y="4279457"/>
            <a:ext cx="2000250" cy="152400"/>
          </a:xfrm>
          <a:prstGeom prst="roundRect">
            <a:avLst>
              <a:gd fmla="val 50000" name="adj"/>
            </a:avLst>
          </a:prstGeom>
          <a:solidFill>
            <a:srgbClr val="155E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4" name="Google Shape;714;p26"/>
          <p:cNvSpPr/>
          <p:nvPr/>
        </p:nvSpPr>
        <p:spPr>
          <a:xfrm>
            <a:off x="8204200" y="4533457"/>
            <a:ext cx="1308100" cy="152400"/>
          </a:xfrm>
          <a:prstGeom prst="roundRect">
            <a:avLst>
              <a:gd fmla="val 50000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5" name="Google Shape;715;p26"/>
          <p:cNvSpPr/>
          <p:nvPr/>
        </p:nvSpPr>
        <p:spPr>
          <a:xfrm>
            <a:off x="9004300" y="4787457"/>
            <a:ext cx="1441450" cy="152400"/>
          </a:xfrm>
          <a:prstGeom prst="roundRect">
            <a:avLst>
              <a:gd fmla="val 50000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16" name="Google Shape;716;p26"/>
          <p:cNvSpPr/>
          <p:nvPr/>
        </p:nvSpPr>
        <p:spPr>
          <a:xfrm>
            <a:off x="9804400" y="5041457"/>
            <a:ext cx="1441450" cy="152400"/>
          </a:xfrm>
          <a:prstGeom prst="roundRect">
            <a:avLst>
              <a:gd fmla="val 50000" name="adj"/>
            </a:avLst>
          </a:prstGeom>
          <a:solidFill>
            <a:srgbClr val="0E2A3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diamond" id="717" name="Google Shape;71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2900" y="22474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6"/>
          <p:cNvSpPr/>
          <p:nvPr/>
        </p:nvSpPr>
        <p:spPr>
          <a:xfrm>
            <a:off x="4356100" y="2222057"/>
            <a:ext cx="1574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Proposal defense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diamond" id="719" name="Google Shape;71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00" y="22474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26"/>
          <p:cNvSpPr/>
          <p:nvPr/>
        </p:nvSpPr>
        <p:spPr>
          <a:xfrm>
            <a:off x="7505700" y="2222057"/>
            <a:ext cx="1574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FYP-I evaluation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diamond" id="721" name="Google Shape;72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9650" y="22474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6"/>
          <p:cNvSpPr/>
          <p:nvPr/>
        </p:nvSpPr>
        <p:spPr>
          <a:xfrm>
            <a:off x="9531350" y="2222057"/>
            <a:ext cx="1574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Final defense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23" name="Google Shape;723;p26"/>
          <p:cNvSpPr/>
          <p:nvPr/>
        </p:nvSpPr>
        <p:spPr>
          <a:xfrm>
            <a:off x="3917950" y="5270057"/>
            <a:ext cx="685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3F22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9C3F22"/>
                </a:solidFill>
                <a:latin typeface="Source Sans 3"/>
                <a:ea typeface="Source Sans 3"/>
                <a:cs typeface="Source Sans 3"/>
                <a:sym typeface="Source Sans 3"/>
              </a:rPr>
              <a:t>Today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24" name="Google Shape;724;p26"/>
          <p:cNvSpPr/>
          <p:nvPr/>
        </p:nvSpPr>
        <p:spPr>
          <a:xfrm>
            <a:off x="10566400" y="6242050"/>
            <a:ext cx="81280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5E6B"/>
              </a:buClr>
              <a:buSzPts val="1200"/>
              <a:buFont typeface="Source Sans 3"/>
              <a:buNone/>
            </a:pPr>
            <a:r>
              <a:rPr b="1" lang="en-US" sz="1200">
                <a:solidFill>
                  <a:srgbClr val="155E6B"/>
                </a:solidFill>
                <a:latin typeface="Source Sans 3"/>
                <a:ea typeface="Source Sans 3"/>
                <a:cs typeface="Source Sans 3"/>
                <a:sym typeface="Source Sans 3"/>
              </a:rPr>
              <a:t>22</a:t>
            </a:r>
            <a:endParaRPr sz="12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5"/>
        </a:solidFill>
      </p:bgPr>
    </p:bg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7"/>
          <p:cNvSpPr/>
          <p:nvPr/>
        </p:nvSpPr>
        <p:spPr>
          <a:xfrm>
            <a:off x="7493000" y="1714500"/>
            <a:ext cx="3429000" cy="3429000"/>
          </a:xfrm>
          <a:prstGeom prst="roundRect">
            <a:avLst>
              <a:gd fmla="val 47407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descr="preencoded.png" id="731" name="Google Shape;7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5770" y="13512"/>
            <a:ext cx="6303270" cy="630327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27"/>
          <p:cNvSpPr/>
          <p:nvPr/>
        </p:nvSpPr>
        <p:spPr>
          <a:xfrm>
            <a:off x="812800" y="1895475"/>
            <a:ext cx="6278880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Source Sans 3"/>
              <a:buNone/>
            </a:pPr>
            <a:r>
              <a:rPr b="1" lang="en-US" sz="1800">
                <a:solidFill>
                  <a:srgbClr val="D9A441"/>
                </a:solidFill>
                <a:latin typeface="Source Sans 3"/>
                <a:ea typeface="Source Sans 3"/>
                <a:cs typeface="Source Sans 3"/>
                <a:sym typeface="Source Sans 3"/>
              </a:rPr>
              <a:t>THANK YOU</a:t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3" name="Google Shape;733;p27"/>
          <p:cNvSpPr txBox="1"/>
          <p:nvPr>
            <p:ph type="title"/>
          </p:nvPr>
        </p:nvSpPr>
        <p:spPr>
          <a:xfrm>
            <a:off x="812800" y="2320925"/>
            <a:ext cx="3590608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F7FAF8"/>
              </a:buClr>
              <a:buSzPts val="6000"/>
              <a:buFont typeface="Source Serif 4"/>
              <a:buNone/>
            </a:pPr>
            <a:r>
              <a:rPr b="1" i="0" lang="en-US" sz="6000">
                <a:solidFill>
                  <a:srgbClr val="F7FAF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Shukriya</a:t>
            </a:r>
            <a:endParaRPr sz="6000"/>
          </a:p>
        </p:txBody>
      </p:sp>
      <p:sp>
        <p:nvSpPr>
          <p:cNvPr id="734" name="Google Shape;734;p27"/>
          <p:cNvSpPr/>
          <p:nvPr/>
        </p:nvSpPr>
        <p:spPr>
          <a:xfrm>
            <a:off x="4313199" y="2263775"/>
            <a:ext cx="13296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814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5400"/>
              <a:buFont typeface="Noto Nastaliq Urdu"/>
              <a:buNone/>
            </a:pPr>
            <a:r>
              <a:rPr lang="en-US" sz="5400">
                <a:solidFill>
                  <a:srgbClr val="D9A441"/>
                </a:solidFill>
                <a:latin typeface="Noto Nastaliq Urdu"/>
                <a:ea typeface="Noto Nastaliq Urdu"/>
                <a:cs typeface="Noto Nastaliq Urdu"/>
                <a:sym typeface="Noto Nastaliq Urdu"/>
              </a:rPr>
              <a:t>شکریہ</a:t>
            </a:r>
            <a:endParaRPr sz="5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778232" y="3238500"/>
            <a:ext cx="5886450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1600"/>
              <a:buFont typeface="Source Sans 3"/>
              <a:buNone/>
            </a:pPr>
            <a:r>
              <a:rPr lang="en-US" sz="16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welcome your questions and feedback</a:t>
            </a:r>
            <a:r>
              <a:rPr lang="en-US" sz="1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587732" y="3736975"/>
            <a:ext cx="1013420" cy="704850"/>
          </a:xfrm>
          <a:prstGeom prst="roundRect">
            <a:avLst>
              <a:gd fmla="val 16216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921087" y="3838575"/>
            <a:ext cx="3467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37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778232" y="4130675"/>
            <a:ext cx="758904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alphabets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1702752" y="3736975"/>
            <a:ext cx="1017786" cy="704850"/>
          </a:xfrm>
          <a:prstGeom prst="roundRect">
            <a:avLst>
              <a:gd fmla="val 16216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2038290" y="3838575"/>
            <a:ext cx="3467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1893252" y="4130675"/>
            <a:ext cx="76414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sentences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2822138" y="3736975"/>
            <a:ext cx="1130102" cy="704850"/>
          </a:xfrm>
          <a:prstGeom prst="roundRect">
            <a:avLst>
              <a:gd fmla="val 16216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3289558" y="3838575"/>
            <a:ext cx="1952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4" name="Google Shape;744;p27"/>
          <p:cNvSpPr/>
          <p:nvPr/>
        </p:nvSpPr>
        <p:spPr>
          <a:xfrm>
            <a:off x="3012638" y="4130675"/>
            <a:ext cx="898922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expressions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4053840" y="3736975"/>
            <a:ext cx="714077" cy="704850"/>
          </a:xfrm>
          <a:prstGeom prst="roundRect">
            <a:avLst>
              <a:gd fmla="val 16216" name="adj"/>
            </a:avLst>
          </a:prstGeom>
          <a:solidFill>
            <a:srgbClr val="1640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4313198" y="3838575"/>
            <a:ext cx="1952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D9A441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endParaRPr sz="20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4244340" y="4130675"/>
            <a:ext cx="399693" cy="23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D0CD"/>
              </a:buClr>
              <a:buSzPts val="1400"/>
              <a:buFont typeface="Source Sans 3"/>
              <a:buNone/>
            </a:pPr>
            <a:r>
              <a:rPr lang="en-US" sz="1400">
                <a:solidFill>
                  <a:srgbClr val="B7D0CD"/>
                </a:solidFill>
                <a:latin typeface="Source Sans 3"/>
                <a:ea typeface="Source Sans 3"/>
                <a:cs typeface="Source Sans 3"/>
                <a:sym typeface="Source Sans 3"/>
              </a:rPr>
              <a:t>SDGs</a:t>
            </a:r>
            <a:endParaRPr sz="140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rdu Sign Language Detection &amp; Classification — Proposal Defense">
  <a:themeElements>
    <a:clrScheme name="Urdu Sign Language Detection &amp; Classification — Proposal Defense">
      <a:dk1>
        <a:srgbClr val="0E2A35"/>
      </a:dk1>
      <a:lt1>
        <a:srgbClr val="F5F8F6"/>
      </a:lt1>
      <a:dk2>
        <a:srgbClr val="485E65"/>
      </a:dk2>
      <a:lt2>
        <a:srgbClr val="DEE3E3"/>
      </a:lt2>
      <a:accent1>
        <a:srgbClr val="155E6B"/>
      </a:accent1>
      <a:accent2>
        <a:srgbClr val="D9A441"/>
      </a:accent2>
      <a:accent3>
        <a:srgbClr val="8E6210"/>
      </a:accent3>
      <a:accent4>
        <a:srgbClr val="9C3F22"/>
      </a:accent4>
      <a:accent5>
        <a:srgbClr val="B4502F"/>
      </a:accent5>
      <a:accent6>
        <a:srgbClr val="237983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